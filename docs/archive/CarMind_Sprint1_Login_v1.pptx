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45cefa95e04eda" /><Relationship Type="http://schemas.openxmlformats.org/officeDocument/2006/relationships/extended-properties" Target="/docProps/app.xml" Id="R5c5860a4d80d418f" /><Relationship Type="http://schemas.openxmlformats.org/officeDocument/2006/relationships/officeDocument" Target="/ppt/presentation.xml" Id="R07bd4395bbc847a0" /></Relationships>
</file>

<file path=ppt/presentation.xml><?xml version="1.0" encoding="utf-8"?>
<p:presentation xmlns:p="http://schemas.openxmlformats.org/presentationml/2006/main">
  <p:sldMasterIdLst>
    <p:sldMasterId xmlns:r="http://schemas.openxmlformats.org/officeDocument/2006/relationships" id="2147483648" r:id="R93a05b313db545c8"/>
  </p:sldMasterIdLst>
  <p:notesMasterIdLst>
    <p:notesMasterId xmlns:r="http://schemas.openxmlformats.org/officeDocument/2006/relationships" r:id="R07919b4cf7244a54"/>
  </p:notesMasterIdLst>
  <p:sldIdLst>
    <p:sldId xmlns:r="http://schemas.openxmlformats.org/officeDocument/2006/relationships" id="256" r:id="R2a488a57ff4d4f3b"/>
    <p:sldId xmlns:r="http://schemas.openxmlformats.org/officeDocument/2006/relationships" id="257" r:id="R4614b7187877403c"/>
    <p:sldId xmlns:r="http://schemas.openxmlformats.org/officeDocument/2006/relationships" id="258" r:id="R61adc431f3ad465b"/>
    <p:sldId xmlns:r="http://schemas.openxmlformats.org/officeDocument/2006/relationships" id="259" r:id="R41789e4d73504f9e"/>
    <p:sldId xmlns:r="http://schemas.openxmlformats.org/officeDocument/2006/relationships" id="260" r:id="Rc89caaad225b47f9"/>
    <p:sldId xmlns:r="http://schemas.openxmlformats.org/officeDocument/2006/relationships" id="261" r:id="Rf2057a92af41405c"/>
    <p:sldId xmlns:r="http://schemas.openxmlformats.org/officeDocument/2006/relationships" id="262" r:id="R5ae0a3f337804558"/>
    <p:sldId xmlns:r="http://schemas.openxmlformats.org/officeDocument/2006/relationships" id="263" r:id="R91b7d1ea8efc49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16e026937946f9" /><Relationship Type="http://schemas.openxmlformats.org/officeDocument/2006/relationships/slideMaster" Target="/ppt/slideMasters/slideMaster1.xml" Id="R93a05b313db545c8" /><Relationship Type="http://schemas.openxmlformats.org/officeDocument/2006/relationships/notesMaster" Target="/ppt/notesMasters/notesMaster1.xml" Id="R07919b4cf7244a54" /><Relationship Type="http://schemas.openxmlformats.org/officeDocument/2006/relationships/presProps" Target="/ppt/presProps.xml" Id="R501986c807d344bd" /><Relationship Type="http://schemas.openxmlformats.org/officeDocument/2006/relationships/tableStyles" Target="/ppt/tableStyles.xml" Id="R73ba947bc99143f7" /><Relationship Type="http://schemas.openxmlformats.org/officeDocument/2006/relationships/slide" Target="/ppt/slides/slide1.xml" Id="R2a488a57ff4d4f3b" /><Relationship Type="http://schemas.openxmlformats.org/officeDocument/2006/relationships/slide" Target="/ppt/slides/slide2.xml" Id="R4614b7187877403c" /><Relationship Type="http://schemas.openxmlformats.org/officeDocument/2006/relationships/slide" Target="/ppt/slides/slide3.xml" Id="R61adc431f3ad465b" /><Relationship Type="http://schemas.openxmlformats.org/officeDocument/2006/relationships/slide" Target="/ppt/slides/slide4.xml" Id="R41789e4d73504f9e" /><Relationship Type="http://schemas.openxmlformats.org/officeDocument/2006/relationships/slide" Target="/ppt/slides/slide5.xml" Id="Rc89caaad225b47f9" /><Relationship Type="http://schemas.openxmlformats.org/officeDocument/2006/relationships/slide" Target="/ppt/slides/slide6.xml" Id="Rf2057a92af41405c" /><Relationship Type="http://schemas.openxmlformats.org/officeDocument/2006/relationships/slide" Target="/ppt/slides/slide7.xml" Id="R5ae0a3f337804558" /><Relationship Type="http://schemas.openxmlformats.org/officeDocument/2006/relationships/slide" Target="/ppt/slides/slide8.xml" Id="R91b7d1ea8efc49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397a8640624d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5dca087a22433e" /><Relationship Type="http://schemas.openxmlformats.org/officeDocument/2006/relationships/notesMaster" Target="/ppt/notesMasters/notesMaster1.xml" Id="Ra8d9de50c6494a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91a246cdc7401a" /><Relationship Type="http://schemas.openxmlformats.org/officeDocument/2006/relationships/notesMaster" Target="/ppt/notesMasters/notesMaster1.xml" Id="R0161ae2e98f14b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1d9cebc984439c" /><Relationship Type="http://schemas.openxmlformats.org/officeDocument/2006/relationships/notesMaster" Target="/ppt/notesMasters/notesMaster1.xml" Id="R6a35e9f4365248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ed89804bb24226" /><Relationship Type="http://schemas.openxmlformats.org/officeDocument/2006/relationships/notesMaster" Target="/ppt/notesMasters/notesMaster1.xml" Id="R4fe79b349aa540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4e6218c85d42e8" /><Relationship Type="http://schemas.openxmlformats.org/officeDocument/2006/relationships/notesMaster" Target="/ppt/notesMasters/notesMaster1.xml" Id="R977d9225fe794a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ccfa2ca23f4231" /><Relationship Type="http://schemas.openxmlformats.org/officeDocument/2006/relationships/notesMaster" Target="/ppt/notesMasters/notesMaster1.xml" Id="Rb28f31465d6d43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798ffa413f4738" /><Relationship Type="http://schemas.openxmlformats.org/officeDocument/2006/relationships/notesMaster" Target="/ppt/notesMasters/notesMaster1.xml" Id="R35feda980e4b42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f1833cf9914fad" /><Relationship Type="http://schemas.openxmlformats.org/officeDocument/2006/relationships/notesMaster" Target="/ppt/notesMasters/notesMaster1.xml" Id="R6de346b965c14c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presenting my Sprint 1 contribution: email/password login for CarMind. CarMind is our vehicle monitoring app concept. This course implementation uses native Android with Java and XML, following the course examples. The demo uses a local Firebase Authentication emulator because the team has not created a cloud Firebase project yet. My teammate will add the registration section. Sources: course site https://ccsw431.malahmadi.sa/ and CarMind_Senior_Project_I_Final_Report.pdf, PDF pages 2 and 7. The early report supplies the concept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002: As a registered CarMind user, I want to sign in with my email address and password so I can access my account. The course requires Registration and Login and Authentication in Sprint 1. I own login. My teammate owns registration. Login uses Firebase Authentication to check credentials. Sources: Final_Project_CCSW431.pdf, PDF pages 3, 5 and 10-11. https://ccsw431.malahmadi.sa/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email and password fields. Passwords start masked and the user may reveal them deliberately. Surrounding whitespace in email is trimmed. The password is sent exactly as entered, including spaces. The form disables during the asynchronous request and displays readable validation or provider errors. The screenshot is a genuine screenshot of the built APK from the local Android device emulator. Source code: app/src/main/java/com/carmind/app/LoginActivity.java and LoginValidation.java. Image: docs/screenshots/login.png.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an incorrect password. Firebase rejects the request, the user stays on Login, and the form re-enables. The visible generic credential message avoids distinguishing an unknown email from a wrong password. Network, disabled-account and throttling errors have readable messages, but those provider cases still need manual testing. The local emulator test verifies the wrong-password case. Source: app/src/main/java/com/carmind/app/LoginActivity.java. Firebase documentation: https://firebase.google.com/docs/auth/android/password-auth. Image: docs/screenshots/invalid-credentials.png.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local registered account on Home. A valid Firebase session opens Home again after an app restart. Sign-out clears the session and activity history, so Back cannot reopen Home. This is a minimal Sprint 1 landing screen, not a completed vehicle dashboard. Future backend services must verify identity independently. Source: app/src/main/java/com/carmind/app/HomeActivity.java. Firebase documentation: https://firebase.google.com/docs/auth/android/password-auth. Image: docs/screenshots/home.png.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JVM input-validation tests passed. Nine device checks passed on Android API 28 using the built emulator-mode APK and the local Firebase Auth emulator. Device cases covered blank form, malformed email, blank password, masking, wrong password, valid login, session restoration, sign-out/navigation, and a password containing surrounding spaces. Android debug build and lint passed. These results do not prove cloud deployment. Network failures, disabled accounts, throttling, and lifecycle behavior remain manual checks. Source: app/build/test-results/testDebugUnitTest/TEST-com.carmind.app.LoginValidationTest.xml and docs/device-check-results.json.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 for the teammate to replace with the registration implementation, genuine screenshots and actual test outcomes. The course requires registration as Story 001 in this sprint. Registration should share the FirebaseAuth instance from CarMindApplication.getAuth(). After integration, demonstrate that a user created through the registration screen can sign in. Registration is not implemented in the login branch. Source: README.md Registration integration and Final_Project_CCSW431.pdf 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login contribution is implemented and verified locally. The team still needs to configure its real Firebase project with Email/Password authentication, integrate the teammate registration story, run the pending provider and lifecycle checks, and record both actual stand-up meetings. The course submission includes progress with screenshots, test cases, meeting cheat sheet and source ZIP. Sources: docs/SPRINT1.md, Final_Project_CCSW431.pdf PDF pages 3-4 and 7. Cloud setup instructions: https://firebase.google.com/docs/auth/android/password-auth.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1543abcdfe41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b4000ac443487c" /><Relationship Type="http://schemas.openxmlformats.org/officeDocument/2006/relationships/slideLayout" Target="/ppt/slideLayouts/slideLayout1.xml" Id="R902c7f49b9ce49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2c7f49b9ce49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e2f09f45604bcd" /><Relationship Type="http://schemas.openxmlformats.org/officeDocument/2006/relationships/notesSlide" Target="/ppt/notesSlides/notesSlide1.xml" Id="Rc3a241a2e8fd46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37ca20439f4086" /><Relationship Type="http://schemas.openxmlformats.org/officeDocument/2006/relationships/notesSlide" Target="/ppt/notesSlides/notesSlide2.xml" Id="R9e72b1ce06d64f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44a4eb81d44f8a" /><Relationship Type="http://schemas.openxmlformats.org/officeDocument/2006/relationships/image" Target="/ppt/media/image.png" Id="Re31764b4dc7a4bc4" /><Relationship Type="http://schemas.openxmlformats.org/officeDocument/2006/relationships/notesSlide" Target="/ppt/notesSlides/notesSlide3.xml" Id="R093c97db13b547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7a807985ad451c" /><Relationship Type="http://schemas.openxmlformats.org/officeDocument/2006/relationships/image" Target="/ppt/media/image2.png" Id="Ra0c8a23d0db943de" /><Relationship Type="http://schemas.openxmlformats.org/officeDocument/2006/relationships/notesSlide" Target="/ppt/notesSlides/notesSlide4.xml" Id="Rcbc5e24d412c44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fd9e0722534069" /><Relationship Type="http://schemas.openxmlformats.org/officeDocument/2006/relationships/image" Target="/ppt/media/image3.png" Id="Rb14c13bc617845f7" /><Relationship Type="http://schemas.openxmlformats.org/officeDocument/2006/relationships/notesSlide" Target="/ppt/notesSlides/notesSlide5.xml" Id="R4ef25bc133e94c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94eb920fae4d59" /><Relationship Type="http://schemas.openxmlformats.org/officeDocument/2006/relationships/notesSlide" Target="/ppt/notesSlides/notesSlide6.xml" Id="R7cb1c4361f6340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5dc8532c754750" /><Relationship Type="http://schemas.openxmlformats.org/officeDocument/2006/relationships/notesSlide" Target="/ppt/notesSlides/notesSlide7.xml" Id="R6b7c0193146541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b4bd8b47ed4cd4" /><Relationship Type="http://schemas.openxmlformats.org/officeDocument/2006/relationships/notesSlide" Target="/ppt/notesSlides/notesSlide8.xml" Id="R52952278741f4689" /></Relationships>
</file>

<file path=ppt/slides/slide1.xml><?xml version="1.0" encoding="utf-8"?>
<p:sld xmlns:p="http://schemas.openxmlformats.org/presentationml/2006/main">
  <p:cSld>
    <p:bg>
      <p:bgPr>
        <a:solidFill xmlns:a="http://schemas.openxmlformats.org/drawingml/2006/main">
          <a:srgbClr val="173A5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417389-DBF5-4775-ABC0-B1BCC3CCCE47}"/>
              </a:ext>
            </a:extLst>
          </p:cNvPr>
          <p:cNvSpPr>
            <a:spLocks xmlns:a="http://schemas.openxmlformats.org/drawingml/2006/main" noGrp="1"/>
          </p:cNvSpPr>
          <p:nvPr/>
        </p:nvSpPr>
        <p:spPr>
          <a:xfrm xmlns:a="http://schemas.openxmlformats.org/drawingml/2006/main">
            <a:off x="685800" y="157162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CarMind</a:t>
            </a:r>
          </a:p>
        </p:txBody>
      </p:sp>
      <p:sp>
        <p:nvSpPr>
          <p:cNvPr id="2" name="">
            <a:extLst xmlns:a="http://schemas.openxmlformats.org/drawingml/2006/main">
              <a:ext uri="{FF2B5EF4-FFF2-40B4-BE49-F238E27FC236}">
                <a16:creationId xmlns:a16="http://schemas.microsoft.com/office/drawing/2014/main" id="{EC20AB31-E1A1-48DF-8097-AEBF5C89AF55}"/>
              </a:ext>
            </a:extLst>
          </p:cNvPr>
          <p:cNvSpPr>
            <a:spLocks xmlns:a="http://schemas.openxmlformats.org/drawingml/2006/main" noGrp="1"/>
          </p:cNvSpPr>
          <p:nvPr/>
        </p:nvSpPr>
        <p:spPr>
          <a:xfrm xmlns:a="http://schemas.openxmlformats.org/drawingml/2006/main">
            <a:off x="685800" y="28003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A2E2D3"/>
                </a:solidFill>
                <a:latin typeface="Arial"/>
                <a:ea typeface="Arial"/>
                <a:cs typeface="Arial"/>
              </a:defRPr>
            </a:pPr>
            <a:r>
              <a:rPr sz="3225" b="0">
                <a:solidFill>
                  <a:srgbClr val="A2E2D3"/>
                </a:solidFill>
                <a:latin typeface="Arial"/>
                <a:ea typeface="Arial"/>
                <a:cs typeface="Arial"/>
              </a:rPr>
              <a:t>Sprint 1: Login and Authentication</a:t>
            </a:r>
          </a:p>
        </p:txBody>
      </p:sp>
      <p:sp>
        <p:nvSpPr>
          <p:cNvPr id="3" name="">
            <a:extLst xmlns:a="http://schemas.openxmlformats.org/drawingml/2006/main">
              <a:ext uri="{FF2B5EF4-FFF2-40B4-BE49-F238E27FC236}">
                <a16:creationId xmlns:a16="http://schemas.microsoft.com/office/drawing/2014/main" id="{370D3B1E-808F-4D71-AE80-4EDF6B6D9F3F}"/>
              </a:ext>
            </a:extLst>
          </p:cNvPr>
          <p:cNvSpPr>
            <a:spLocks xmlns:a="http://schemas.openxmlformats.org/drawingml/2006/main" noGrp="1"/>
          </p:cNvSpPr>
          <p:nvPr/>
        </p:nvSpPr>
        <p:spPr>
          <a:xfrm xmlns:a="http://schemas.openxmlformats.org/drawingml/2006/main">
            <a:off x="685800" y="39433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Abdullah Misar</a:t>
            </a:r>
          </a:p>
        </p:txBody>
      </p:sp>
      <p:sp>
        <p:nvSpPr>
          <p:cNvPr id="4" name="">
            <a:extLst xmlns:a="http://schemas.openxmlformats.org/drawingml/2006/main">
              <a:ext uri="{FF2B5EF4-FFF2-40B4-BE49-F238E27FC236}">
                <a16:creationId xmlns:a16="http://schemas.microsoft.com/office/drawing/2014/main" id="{6FCA5A7C-4190-4B1D-8CD9-35248F3BA691}"/>
              </a:ext>
            </a:extLst>
          </p:cNvPr>
          <p:cNvSpPr>
            <a:spLocks xmlns:a="http://schemas.openxmlformats.org/drawingml/2006/main" noGrp="1"/>
          </p:cNvSpPr>
          <p:nvPr/>
        </p:nvSpPr>
        <p:spPr>
          <a:xfrm xmlns:a="http://schemas.openxmlformats.org/drawingml/2006/main">
            <a:off x="685800" y="44958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3D3DE"/>
                </a:solidFill>
                <a:latin typeface="Arial"/>
                <a:ea typeface="Arial"/>
                <a:cs typeface="Arial"/>
              </a:defRPr>
            </a:pPr>
            <a:r>
              <a:rPr sz="1800" b="0">
                <a:solidFill>
                  <a:srgbClr val="C3D3DE"/>
                </a:solidFill>
                <a:latin typeface="Arial"/>
                <a:ea typeface="Arial"/>
                <a:cs typeface="Arial"/>
              </a:rPr>
              <a:t>CCSW 431 Mobile Programming</a:t>
            </a:r>
          </a:p>
        </p:txBody>
      </p:sp>
    </p:spTree>
    <p:extLst>
      <p:ext uri="{BB962C8B-B14F-4D97-AF65-F5344CB8AC3E}">
        <p14:creationId xmlns:p14="http://schemas.microsoft.com/office/powerpoint/2010/main" val="412417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4408A3-325F-4D62-90DA-0023BF4C9602}"/>
              </a:ext>
            </a:extLst>
          </p:cNvPr>
          <p:cNvSpPr>
            <a:spLocks xmlns:a="http://schemas.openxmlformats.org/drawingml/2006/main" noGrp="1"/>
          </p:cNvSpPr>
          <p:nvPr/>
        </p:nvSpPr>
        <p:spPr>
          <a:xfrm xmlns:a="http://schemas.openxmlformats.org/drawingml/2006/main">
            <a:off x="685800" y="523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A53"/>
                </a:solidFill>
                <a:latin typeface="Arial"/>
                <a:ea typeface="Arial"/>
                <a:cs typeface="Arial"/>
              </a:defRPr>
            </a:pPr>
            <a:r>
              <a:rPr sz="3450" b="1">
                <a:solidFill>
                  <a:srgbClr val="173A53"/>
                </a:solidFill>
                <a:latin typeface="Arial"/>
                <a:ea typeface="Arial"/>
                <a:cs typeface="Arial"/>
              </a:rPr>
              <a:t>Login story</a:t>
            </a:r>
          </a:p>
        </p:txBody>
      </p:sp>
      <p:sp>
        <p:nvSpPr>
          <p:cNvPr id="2" name="">
            <a:extLst xmlns:a="http://schemas.openxmlformats.org/drawingml/2006/main">
              <a:ext uri="{FF2B5EF4-FFF2-40B4-BE49-F238E27FC236}">
                <a16:creationId xmlns:a16="http://schemas.microsoft.com/office/drawing/2014/main" id="{06DFDD66-02BE-4EEF-A1E0-CDFEBBC6F180}"/>
              </a:ext>
            </a:extLst>
          </p:cNvPr>
          <p:cNvSpPr>
            <a:spLocks xmlns:a="http://schemas.openxmlformats.org/drawingml/2006/main" noGrp="1"/>
          </p:cNvSpPr>
          <p:nvPr/>
        </p:nvSpPr>
        <p:spPr>
          <a:xfrm xmlns:a="http://schemas.openxmlformats.org/drawingml/2006/main">
            <a:off x="685800" y="17716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6D67"/>
                </a:solidFill>
                <a:latin typeface="Arial"/>
                <a:ea typeface="Arial"/>
                <a:cs typeface="Arial"/>
              </a:defRPr>
            </a:pPr>
            <a:r>
              <a:rPr sz="2250" b="1">
                <a:solidFill>
                  <a:srgbClr val="116D67"/>
                </a:solidFill>
                <a:latin typeface="Arial"/>
                <a:ea typeface="Arial"/>
                <a:cs typeface="Arial"/>
              </a:rPr>
              <a:t>Story 002</a:t>
            </a:r>
          </a:p>
        </p:txBody>
      </p:sp>
      <p:sp>
        <p:nvSpPr>
          <p:cNvPr id="3" name="">
            <a:extLst xmlns:a="http://schemas.openxmlformats.org/drawingml/2006/main">
              <a:ext uri="{FF2B5EF4-FFF2-40B4-BE49-F238E27FC236}">
                <a16:creationId xmlns:a16="http://schemas.microsoft.com/office/drawing/2014/main" id="{9C22D4A6-25BE-41B3-9FE5-5D5CB3A534A4}"/>
              </a:ext>
            </a:extLst>
          </p:cNvPr>
          <p:cNvSpPr>
            <a:spLocks xmlns:a="http://schemas.openxmlformats.org/drawingml/2006/main" noGrp="1"/>
          </p:cNvSpPr>
          <p:nvPr/>
        </p:nvSpPr>
        <p:spPr>
          <a:xfrm xmlns:a="http://schemas.openxmlformats.org/drawingml/2006/main">
            <a:off x="685800" y="2457450"/>
            <a:ext cx="990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A53"/>
                </a:solidFill>
                <a:latin typeface="Arial"/>
                <a:ea typeface="Arial"/>
                <a:cs typeface="Arial"/>
              </a:defRPr>
            </a:pPr>
            <a:r>
              <a:rPr sz="2700" b="1">
                <a:solidFill>
                  <a:srgbClr val="173A53"/>
                </a:solidFill>
                <a:latin typeface="Arial"/>
                <a:ea typeface="Arial"/>
                <a:cs typeface="Arial"/>
              </a:rPr>
              <a:t>A registered user signs in to access their CarMind account.</a:t>
            </a:r>
          </a:p>
        </p:txBody>
      </p:sp>
      <p:sp>
        <p:nvSpPr>
          <p:cNvPr id="4" name="">
            <a:extLst xmlns:a="http://schemas.openxmlformats.org/drawingml/2006/main">
              <a:ext uri="{FF2B5EF4-FFF2-40B4-BE49-F238E27FC236}">
                <a16:creationId xmlns:a16="http://schemas.microsoft.com/office/drawing/2014/main" id="{1840E645-A929-47FE-ACF2-D9F9A3F293FD}"/>
              </a:ext>
            </a:extLst>
          </p:cNvPr>
          <p:cNvSpPr>
            <a:spLocks xmlns:a="http://schemas.openxmlformats.org/drawingml/2006/main" noGrp="1"/>
          </p:cNvSpPr>
          <p:nvPr/>
        </p:nvSpPr>
        <p:spPr>
          <a:xfrm xmlns:a="http://schemas.openxmlformats.org/drawingml/2006/main">
            <a:off x="685800" y="3962400"/>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A53"/>
                </a:solidFill>
                <a:latin typeface="Arial"/>
                <a:ea typeface="Arial"/>
                <a:cs typeface="Arial"/>
              </a:defRPr>
            </a:pPr>
            <a:r>
              <a:rPr sz="2175" b="0">
                <a:solidFill>
                  <a:srgbClr val="173A53"/>
                </a:solidFill>
                <a:latin typeface="Arial"/>
                <a:ea typeface="Arial"/>
                <a:cs typeface="Arial"/>
              </a:rPr>
              <a:t>The app validates the form and asks Firebase to check the credentials.</a:t>
            </a:r>
          </a:p>
        </p:txBody>
      </p:sp>
      <p:sp>
        <p:nvSpPr>
          <p:cNvPr id="5" name="">
            <a:extLst xmlns:a="http://schemas.openxmlformats.org/drawingml/2006/main">
              <a:ext uri="{FF2B5EF4-FFF2-40B4-BE49-F238E27FC236}">
                <a16:creationId xmlns:a16="http://schemas.microsoft.com/office/drawing/2014/main" id="{94128F58-293F-48C5-9F0F-94703B4F4260}"/>
              </a:ext>
            </a:extLst>
          </p:cNvPr>
          <p:cNvSpPr>
            <a:spLocks xmlns:a="http://schemas.openxmlformats.org/drawingml/2006/main" noGrp="1"/>
          </p:cNvSpPr>
          <p:nvPr/>
        </p:nvSpPr>
        <p:spPr>
          <a:xfrm xmlns:a="http://schemas.openxmlformats.org/drawingml/2006/main">
            <a:off x="685800" y="5238750"/>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A53"/>
                </a:solidFill>
                <a:latin typeface="Arial"/>
                <a:ea typeface="Arial"/>
                <a:cs typeface="Arial"/>
              </a:defRPr>
            </a:pPr>
            <a:r>
              <a:rPr sz="2175" b="0">
                <a:solidFill>
                  <a:srgbClr val="173A53"/>
                </a:solidFill>
                <a:latin typeface="Arial"/>
                <a:ea typeface="Arial"/>
                <a:cs typeface="Arial"/>
              </a:rPr>
              <a:t>Successful authentication opens the home screen.</a:t>
            </a:r>
          </a:p>
        </p:txBody>
      </p:sp>
    </p:spTree>
    <p:extLst>
      <p:ext uri="{BB962C8B-B14F-4D97-AF65-F5344CB8AC3E}">
        <p14:creationId xmlns:p14="http://schemas.microsoft.com/office/powerpoint/2010/main" val="14675321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1EB4AF-2381-4B44-8D1D-51ED6C8E30BC}"/>
              </a:ext>
            </a:extLst>
          </p:cNvPr>
          <p:cNvSpPr>
            <a:spLocks xmlns:a="http://schemas.openxmlformats.org/drawingml/2006/main" noGrp="1"/>
          </p:cNvSpPr>
          <p:nvPr/>
        </p:nvSpPr>
        <p:spPr>
          <a:xfrm xmlns:a="http://schemas.openxmlformats.org/drawingml/2006/main">
            <a:off x="685800" y="523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A53"/>
                </a:solidFill>
                <a:latin typeface="Arial"/>
                <a:ea typeface="Arial"/>
                <a:cs typeface="Arial"/>
              </a:defRPr>
            </a:pPr>
            <a:r>
              <a:rPr sz="3450" b="1">
                <a:solidFill>
                  <a:srgbClr val="173A53"/>
                </a:solidFill>
                <a:latin typeface="Arial"/>
                <a:ea typeface="Arial"/>
                <a:cs typeface="Arial"/>
              </a:rPr>
              <a:t>Login screen</a:t>
            </a:r>
          </a:p>
        </p:txBody>
      </p:sp>
      <p:sp>
        <p:nvSpPr>
          <p:cNvPr id="2" name="">
            <a:extLst xmlns:a="http://schemas.openxmlformats.org/drawingml/2006/main">
              <a:ext uri="{FF2B5EF4-FFF2-40B4-BE49-F238E27FC236}">
                <a16:creationId xmlns:a16="http://schemas.microsoft.com/office/drawing/2014/main" id="{CED5A0CA-9C84-4DDE-8ED6-203B20AC5A51}"/>
              </a:ext>
            </a:extLst>
          </p:cNvPr>
          <p:cNvSpPr>
            <a:spLocks xmlns:a="http://schemas.openxmlformats.org/drawingml/2006/main" noGrp="1"/>
          </p:cNvSpPr>
          <p:nvPr/>
        </p:nvSpPr>
        <p:spPr>
          <a:xfrm xmlns:a="http://schemas.openxmlformats.org/drawingml/2006/main">
            <a:off x="685800" y="1743075"/>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16D67"/>
                </a:solidFill>
                <a:latin typeface="Arial"/>
                <a:ea typeface="Arial"/>
                <a:cs typeface="Arial"/>
              </a:defRPr>
            </a:pPr>
            <a:r>
              <a:rPr sz="2400" b="1">
                <a:solidFill>
                  <a:srgbClr val="116D67"/>
                </a:solidFill>
                <a:latin typeface="Arial"/>
                <a:ea typeface="Arial"/>
                <a:cs typeface="Arial"/>
              </a:rPr>
              <a:t>Email and password</a:t>
            </a:r>
          </a:p>
        </p:txBody>
      </p:sp>
      <p:sp>
        <p:nvSpPr>
          <p:cNvPr id="3" name="">
            <a:extLst xmlns:a="http://schemas.openxmlformats.org/drawingml/2006/main">
              <a:ext uri="{FF2B5EF4-FFF2-40B4-BE49-F238E27FC236}">
                <a16:creationId xmlns:a16="http://schemas.microsoft.com/office/drawing/2014/main" id="{95939CA9-593F-4F07-B0C7-0E3F4E0CCC4D}"/>
              </a:ext>
            </a:extLst>
          </p:cNvPr>
          <p:cNvSpPr>
            <a:spLocks xmlns:a="http://schemas.openxmlformats.org/drawingml/2006/main" noGrp="1"/>
          </p:cNvSpPr>
          <p:nvPr/>
        </p:nvSpPr>
        <p:spPr>
          <a:xfrm xmlns:a="http://schemas.openxmlformats.org/drawingml/2006/main">
            <a:off x="685800" y="264795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53"/>
                </a:solidFill>
                <a:latin typeface="Arial"/>
                <a:ea typeface="Arial"/>
                <a:cs typeface="Arial"/>
              </a:defRPr>
            </a:pPr>
            <a:r>
              <a:rPr sz="2100" b="0">
                <a:solidFill>
                  <a:srgbClr val="173A53"/>
                </a:solidFill>
                <a:latin typeface="Arial"/>
                <a:ea typeface="Arial"/>
                <a:cs typeface="Arial"/>
              </a:rPr>
              <a:t>Required fields and email format checks</a:t>
            </a:r>
          </a:p>
        </p:txBody>
      </p:sp>
      <p:sp>
        <p:nvSpPr>
          <p:cNvPr id="4" name="">
            <a:extLst xmlns:a="http://schemas.openxmlformats.org/drawingml/2006/main">
              <a:ext uri="{FF2B5EF4-FFF2-40B4-BE49-F238E27FC236}">
                <a16:creationId xmlns:a16="http://schemas.microsoft.com/office/drawing/2014/main" id="{9771A297-033E-4CE4-9696-BB456BD19590}"/>
              </a:ext>
            </a:extLst>
          </p:cNvPr>
          <p:cNvSpPr>
            <a:spLocks xmlns:a="http://schemas.openxmlformats.org/drawingml/2006/main" noGrp="1"/>
          </p:cNvSpPr>
          <p:nvPr/>
        </p:nvSpPr>
        <p:spPr>
          <a:xfrm xmlns:a="http://schemas.openxmlformats.org/drawingml/2006/main">
            <a:off x="685800" y="3648075"/>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53"/>
                </a:solidFill>
                <a:latin typeface="Arial"/>
                <a:ea typeface="Arial"/>
                <a:cs typeface="Arial"/>
              </a:defRPr>
            </a:pPr>
            <a:r>
              <a:rPr sz="2100" b="0">
                <a:solidFill>
                  <a:srgbClr val="173A53"/>
                </a:solidFill>
                <a:latin typeface="Arial"/>
                <a:ea typeface="Arial"/>
                <a:cs typeface="Arial"/>
              </a:rPr>
              <a:t>Masked password with an optional reveal control</a:t>
            </a:r>
          </a:p>
        </p:txBody>
      </p:sp>
      <p:sp>
        <p:nvSpPr>
          <p:cNvPr id="5" name="">
            <a:extLst xmlns:a="http://schemas.openxmlformats.org/drawingml/2006/main">
              <a:ext uri="{FF2B5EF4-FFF2-40B4-BE49-F238E27FC236}">
                <a16:creationId xmlns:a16="http://schemas.microsoft.com/office/drawing/2014/main" id="{21194A63-23FC-4CA4-B8F0-6C5A043C7812}"/>
              </a:ext>
            </a:extLst>
          </p:cNvPr>
          <p:cNvSpPr>
            <a:spLocks xmlns:a="http://schemas.openxmlformats.org/drawingml/2006/main" noGrp="1"/>
          </p:cNvSpPr>
          <p:nvPr/>
        </p:nvSpPr>
        <p:spPr>
          <a:xfrm xmlns:a="http://schemas.openxmlformats.org/drawingml/2006/main">
            <a:off x="685800" y="49339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53"/>
                </a:solidFill>
                <a:latin typeface="Arial"/>
                <a:ea typeface="Arial"/>
                <a:cs typeface="Arial"/>
              </a:defRPr>
            </a:pPr>
            <a:r>
              <a:rPr sz="2100" b="0">
                <a:solidFill>
                  <a:srgbClr val="173A53"/>
                </a:solidFill>
                <a:latin typeface="Arial"/>
                <a:ea typeface="Arial"/>
                <a:cs typeface="Arial"/>
              </a:rPr>
              <a:t>Loading state prevents repeated submissions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31764b4dc7a4bc4"/>
          <a:stretch xmlns:a="http://schemas.openxmlformats.org/drawingml/2006/main"/>
        </p:blipFill>
        <p:spPr>
          <a:xfrm xmlns:a="http://schemas.openxmlformats.org/drawingml/2006/main">
            <a:off x="8382595" y="1381125"/>
            <a:ext cx="2646759" cy="4705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A44761D-9CA9-4F81-A0D7-1E493BC0A940}"/>
              </a:ext>
            </a:extLst>
          </p:cNvPr>
          <p:cNvSpPr>
            <a:spLocks xmlns:a="http://schemas.openxmlformats.org/drawingml/2006/main" noGrp="1"/>
          </p:cNvSpPr>
          <p:nvPr/>
        </p:nvSpPr>
        <p:spPr>
          <a:xfrm xmlns:a="http://schemas.openxmlformats.org/drawingml/2006/main">
            <a:off x="685800" y="62484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Android 9 device emulator with local Firebase Auth</a:t>
            </a:r>
          </a:p>
        </p:txBody>
      </p:sp>
    </p:spTree>
    <p:extLst>
      <p:ext uri="{BB962C8B-B14F-4D97-AF65-F5344CB8AC3E}">
        <p14:creationId xmlns:p14="http://schemas.microsoft.com/office/powerpoint/2010/main" val="134790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C99095-B3CD-4F39-9D45-3BB5AD23E029}"/>
              </a:ext>
            </a:extLst>
          </p:cNvPr>
          <p:cNvSpPr>
            <a:spLocks xmlns:a="http://schemas.openxmlformats.org/drawingml/2006/main" noGrp="1"/>
          </p:cNvSpPr>
          <p:nvPr/>
        </p:nvSpPr>
        <p:spPr>
          <a:xfrm xmlns:a="http://schemas.openxmlformats.org/drawingml/2006/main">
            <a:off x="685800" y="523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A53"/>
                </a:solidFill>
                <a:latin typeface="Arial"/>
                <a:ea typeface="Arial"/>
                <a:cs typeface="Arial"/>
              </a:defRPr>
            </a:pPr>
            <a:r>
              <a:rPr sz="3450" b="1">
                <a:solidFill>
                  <a:srgbClr val="173A53"/>
                </a:solidFill>
                <a:latin typeface="Arial"/>
                <a:ea typeface="Arial"/>
                <a:cs typeface="Arial"/>
              </a:rPr>
              <a:t>Failed authentication</a:t>
            </a:r>
          </a:p>
        </p:txBody>
      </p:sp>
      <p:sp>
        <p:nvSpPr>
          <p:cNvPr id="2" name="">
            <a:extLst xmlns:a="http://schemas.openxmlformats.org/drawingml/2006/main">
              <a:ext uri="{FF2B5EF4-FFF2-40B4-BE49-F238E27FC236}">
                <a16:creationId xmlns:a16="http://schemas.microsoft.com/office/drawing/2014/main" id="{1A9C8F48-8295-45DE-B21E-1EB1100D1A2F}"/>
              </a:ext>
            </a:extLst>
          </p:cNvPr>
          <p:cNvSpPr>
            <a:spLocks xmlns:a="http://schemas.openxmlformats.org/drawingml/2006/main" noGrp="1"/>
          </p:cNvSpPr>
          <p:nvPr/>
        </p:nvSpPr>
        <p:spPr>
          <a:xfrm xmlns:a="http://schemas.openxmlformats.org/drawingml/2006/main">
            <a:off x="685800" y="1857375"/>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16D67"/>
                </a:solidFill>
                <a:latin typeface="Arial"/>
                <a:ea typeface="Arial"/>
                <a:cs typeface="Arial"/>
              </a:defRPr>
            </a:pPr>
            <a:r>
              <a:rPr sz="2625" b="1">
                <a:solidFill>
                  <a:srgbClr val="116D67"/>
                </a:solidFill>
                <a:latin typeface="Arial"/>
                <a:ea typeface="Arial"/>
                <a:cs typeface="Arial"/>
              </a:rPr>
              <a:t>Email or password is incorrect.</a:t>
            </a:r>
          </a:p>
        </p:txBody>
      </p:sp>
      <p:sp>
        <p:nvSpPr>
          <p:cNvPr id="3" name="">
            <a:extLst xmlns:a="http://schemas.openxmlformats.org/drawingml/2006/main">
              <a:ext uri="{FF2B5EF4-FFF2-40B4-BE49-F238E27FC236}">
                <a16:creationId xmlns:a16="http://schemas.microsoft.com/office/drawing/2014/main" id="{C7201ACE-5569-4C04-A052-FC19B194AEAD}"/>
              </a:ext>
            </a:extLst>
          </p:cNvPr>
          <p:cNvSpPr>
            <a:spLocks xmlns:a="http://schemas.openxmlformats.org/drawingml/2006/main" noGrp="1"/>
          </p:cNvSpPr>
          <p:nvPr/>
        </p:nvSpPr>
        <p:spPr>
          <a:xfrm xmlns:a="http://schemas.openxmlformats.org/drawingml/2006/main">
            <a:off x="685800" y="3400425"/>
            <a:ext cx="666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A53"/>
                </a:solidFill>
                <a:latin typeface="Arial"/>
                <a:ea typeface="Arial"/>
                <a:cs typeface="Arial"/>
              </a:defRPr>
            </a:pPr>
            <a:r>
              <a:rPr sz="2250" b="0">
                <a:solidFill>
                  <a:srgbClr val="173A53"/>
                </a:solidFill>
                <a:latin typeface="Arial"/>
                <a:ea typeface="Arial"/>
                <a:cs typeface="Arial"/>
              </a:rPr>
              <a:t>The user stays on the login screen and can retry.</a:t>
            </a:r>
          </a:p>
        </p:txBody>
      </p:sp>
      <p:sp>
        <p:nvSpPr>
          <p:cNvPr id="4" name="">
            <a:extLst xmlns:a="http://schemas.openxmlformats.org/drawingml/2006/main">
              <a:ext uri="{FF2B5EF4-FFF2-40B4-BE49-F238E27FC236}">
                <a16:creationId xmlns:a16="http://schemas.microsoft.com/office/drawing/2014/main" id="{3EA6687F-70E8-4290-8A5A-EB5678031F86}"/>
              </a:ext>
            </a:extLst>
          </p:cNvPr>
          <p:cNvSpPr>
            <a:spLocks xmlns:a="http://schemas.openxmlformats.org/drawingml/2006/main" noGrp="1"/>
          </p:cNvSpPr>
          <p:nvPr/>
        </p:nvSpPr>
        <p:spPr>
          <a:xfrm xmlns:a="http://schemas.openxmlformats.org/drawingml/2006/main">
            <a:off x="685800" y="4857750"/>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53"/>
                </a:solidFill>
                <a:latin typeface="Arial"/>
                <a:ea typeface="Arial"/>
                <a:cs typeface="Arial"/>
              </a:defRPr>
            </a:pPr>
            <a:r>
              <a:rPr sz="2100" b="0">
                <a:solidFill>
                  <a:srgbClr val="173A53"/>
                </a:solidFill>
                <a:latin typeface="Arial"/>
                <a:ea typeface="Arial"/>
                <a:cs typeface="Arial"/>
              </a:rPr>
              <a:t>The app displays a readable message without exposing raw exceptions.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0c8a23d0db943de"/>
          <a:stretch xmlns:a="http://schemas.openxmlformats.org/drawingml/2006/main"/>
        </p:blipFill>
        <p:spPr>
          <a:xfrm xmlns:a="http://schemas.openxmlformats.org/drawingml/2006/main">
            <a:off x="8382595" y="1381125"/>
            <a:ext cx="2646759" cy="4705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70D740-83EF-41D4-8D53-E7ED2C43F8D4}"/>
              </a:ext>
            </a:extLst>
          </p:cNvPr>
          <p:cNvSpPr>
            <a:spLocks xmlns:a="http://schemas.openxmlformats.org/drawingml/2006/main" noGrp="1"/>
          </p:cNvSpPr>
          <p:nvPr/>
        </p:nvSpPr>
        <p:spPr>
          <a:xfrm xmlns:a="http://schemas.openxmlformats.org/drawingml/2006/main">
            <a:off x="685800" y="62484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Android 9 device emulator with local Firebase Auth</a:t>
            </a:r>
          </a:p>
        </p:txBody>
      </p:sp>
    </p:spTree>
    <p:extLst>
      <p:ext uri="{BB962C8B-B14F-4D97-AF65-F5344CB8AC3E}">
        <p14:creationId xmlns:p14="http://schemas.microsoft.com/office/powerpoint/2010/main" val="9964517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26C672-F768-4489-B6C5-44B44DA3A8EC}"/>
              </a:ext>
            </a:extLst>
          </p:cNvPr>
          <p:cNvSpPr>
            <a:spLocks xmlns:a="http://schemas.openxmlformats.org/drawingml/2006/main" noGrp="1"/>
          </p:cNvSpPr>
          <p:nvPr/>
        </p:nvSpPr>
        <p:spPr>
          <a:xfrm xmlns:a="http://schemas.openxmlformats.org/drawingml/2006/main">
            <a:off x="685800" y="523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A53"/>
                </a:solidFill>
                <a:latin typeface="Arial"/>
                <a:ea typeface="Arial"/>
                <a:cs typeface="Arial"/>
              </a:defRPr>
            </a:pPr>
            <a:r>
              <a:rPr sz="3450" b="1">
                <a:solidFill>
                  <a:srgbClr val="173A53"/>
                </a:solidFill>
                <a:latin typeface="Arial"/>
                <a:ea typeface="Arial"/>
                <a:cs typeface="Arial"/>
              </a:rPr>
              <a:t>Successful authentication and session</a:t>
            </a:r>
          </a:p>
        </p:txBody>
      </p:sp>
      <p:sp>
        <p:nvSpPr>
          <p:cNvPr id="2" name="">
            <a:extLst xmlns:a="http://schemas.openxmlformats.org/drawingml/2006/main">
              <a:ext uri="{FF2B5EF4-FFF2-40B4-BE49-F238E27FC236}">
                <a16:creationId xmlns:a16="http://schemas.microsoft.com/office/drawing/2014/main" id="{FB052E1D-80E9-466E-8DA6-260088864C6F}"/>
              </a:ext>
            </a:extLst>
          </p:cNvPr>
          <p:cNvSpPr>
            <a:spLocks xmlns:a="http://schemas.openxmlformats.org/drawingml/2006/main" noGrp="1"/>
          </p:cNvSpPr>
          <p:nvPr/>
        </p:nvSpPr>
        <p:spPr>
          <a:xfrm xmlns:a="http://schemas.openxmlformats.org/drawingml/2006/main">
            <a:off x="685800" y="1752600"/>
            <a:ext cx="685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16D67"/>
                </a:solidFill>
                <a:latin typeface="Arial"/>
                <a:ea typeface="Arial"/>
                <a:cs typeface="Arial"/>
              </a:defRPr>
            </a:pPr>
            <a:r>
              <a:rPr sz="2400" b="1">
                <a:solidFill>
                  <a:srgbClr val="116D67"/>
                </a:solidFill>
                <a:latin typeface="Arial"/>
                <a:ea typeface="Arial"/>
                <a:cs typeface="Arial"/>
              </a:rPr>
              <a:t>Valid credentials open Home</a:t>
            </a:r>
          </a:p>
        </p:txBody>
      </p:sp>
      <p:sp>
        <p:nvSpPr>
          <p:cNvPr id="3" name="">
            <a:extLst xmlns:a="http://schemas.openxmlformats.org/drawingml/2006/main">
              <a:ext uri="{FF2B5EF4-FFF2-40B4-BE49-F238E27FC236}">
                <a16:creationId xmlns:a16="http://schemas.microsoft.com/office/drawing/2014/main" id="{0A3DC907-1E0F-4039-876C-553C88AEEDB4}"/>
              </a:ext>
            </a:extLst>
          </p:cNvPr>
          <p:cNvSpPr>
            <a:spLocks xmlns:a="http://schemas.openxmlformats.org/drawingml/2006/main" noGrp="1"/>
          </p:cNvSpPr>
          <p:nvPr/>
        </p:nvSpPr>
        <p:spPr>
          <a:xfrm xmlns:a="http://schemas.openxmlformats.org/drawingml/2006/main">
            <a:off x="685800" y="3095625"/>
            <a:ext cx="685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A53"/>
                </a:solidFill>
                <a:latin typeface="Arial"/>
                <a:ea typeface="Arial"/>
                <a:cs typeface="Arial"/>
              </a:defRPr>
            </a:pPr>
            <a:r>
              <a:rPr sz="2175" b="0">
                <a:solidFill>
                  <a:srgbClr val="173A53"/>
                </a:solidFill>
                <a:latin typeface="Arial"/>
                <a:ea typeface="Arial"/>
                <a:cs typeface="Arial"/>
              </a:rPr>
              <a:t>Firebase restores the session when the app starts again.</a:t>
            </a:r>
          </a:p>
        </p:txBody>
      </p:sp>
      <p:sp>
        <p:nvSpPr>
          <p:cNvPr id="4" name="">
            <a:extLst xmlns:a="http://schemas.openxmlformats.org/drawingml/2006/main">
              <a:ext uri="{FF2B5EF4-FFF2-40B4-BE49-F238E27FC236}">
                <a16:creationId xmlns:a16="http://schemas.microsoft.com/office/drawing/2014/main" id="{11D83835-997C-4A26-986E-258CCAB63889}"/>
              </a:ext>
            </a:extLst>
          </p:cNvPr>
          <p:cNvSpPr>
            <a:spLocks xmlns:a="http://schemas.openxmlformats.org/drawingml/2006/main" noGrp="1"/>
          </p:cNvSpPr>
          <p:nvPr/>
        </p:nvSpPr>
        <p:spPr>
          <a:xfrm xmlns:a="http://schemas.openxmlformats.org/drawingml/2006/main">
            <a:off x="685800" y="4619625"/>
            <a:ext cx="685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A53"/>
                </a:solidFill>
                <a:latin typeface="Arial"/>
                <a:ea typeface="Arial"/>
                <a:cs typeface="Arial"/>
              </a:defRPr>
            </a:pPr>
            <a:r>
              <a:rPr sz="2175" b="0">
                <a:solidFill>
                  <a:srgbClr val="173A53"/>
                </a:solidFill>
                <a:latin typeface="Arial"/>
                <a:ea typeface="Arial"/>
                <a:cs typeface="Arial"/>
              </a:rPr>
              <a:t>Sign-out clears the session and returns the user to Login.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14c13bc617845f7"/>
          <a:stretch xmlns:a="http://schemas.openxmlformats.org/drawingml/2006/main"/>
        </p:blipFill>
        <p:spPr>
          <a:xfrm xmlns:a="http://schemas.openxmlformats.org/drawingml/2006/main">
            <a:off x="8382595" y="1381125"/>
            <a:ext cx="2646759" cy="4705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F77492F-332A-4994-AFF0-BC6E211A3A3C}"/>
              </a:ext>
            </a:extLst>
          </p:cNvPr>
          <p:cNvSpPr>
            <a:spLocks xmlns:a="http://schemas.openxmlformats.org/drawingml/2006/main" noGrp="1"/>
          </p:cNvSpPr>
          <p:nvPr/>
        </p:nvSpPr>
        <p:spPr>
          <a:xfrm xmlns:a="http://schemas.openxmlformats.org/drawingml/2006/main">
            <a:off x="685800" y="62484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Android 9 device emulator with local Firebase Auth</a:t>
            </a:r>
          </a:p>
        </p:txBody>
      </p:sp>
    </p:spTree>
    <p:extLst>
      <p:ext uri="{BB962C8B-B14F-4D97-AF65-F5344CB8AC3E}">
        <p14:creationId xmlns:p14="http://schemas.microsoft.com/office/powerpoint/2010/main" val="3237991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E55F70-80D3-4F07-BC76-A97FD9682A51}"/>
              </a:ext>
            </a:extLst>
          </p:cNvPr>
          <p:cNvSpPr>
            <a:spLocks xmlns:a="http://schemas.openxmlformats.org/drawingml/2006/main" noGrp="1"/>
          </p:cNvSpPr>
          <p:nvPr/>
        </p:nvSpPr>
        <p:spPr>
          <a:xfrm xmlns:a="http://schemas.openxmlformats.org/drawingml/2006/main">
            <a:off x="685800" y="523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A53"/>
                </a:solidFill>
                <a:latin typeface="Arial"/>
                <a:ea typeface="Arial"/>
                <a:cs typeface="Arial"/>
              </a:defRPr>
            </a:pPr>
            <a:r>
              <a:rPr sz="3450" b="1">
                <a:solidFill>
                  <a:srgbClr val="173A53"/>
                </a:solidFill>
                <a:latin typeface="Arial"/>
                <a:ea typeface="Arial"/>
                <a:cs typeface="Arial"/>
              </a:rPr>
              <a:t>Test results</a:t>
            </a:r>
          </a:p>
        </p:txBody>
      </p:sp>
      <p:sp>
        <p:nvSpPr>
          <p:cNvPr id="2" name="">
            <a:extLst xmlns:a="http://schemas.openxmlformats.org/drawingml/2006/main">
              <a:ext uri="{FF2B5EF4-FFF2-40B4-BE49-F238E27FC236}">
                <a16:creationId xmlns:a16="http://schemas.microsoft.com/office/drawing/2014/main" id="{AA047E6B-275E-4D78-8B1C-ED2FDC7298F9}"/>
              </a:ext>
            </a:extLst>
          </p:cNvPr>
          <p:cNvSpPr>
            <a:spLocks xmlns:a="http://schemas.openxmlformats.org/drawingml/2006/main" noGrp="1"/>
          </p:cNvSpPr>
          <p:nvPr/>
        </p:nvSpPr>
        <p:spPr>
          <a:xfrm xmlns:a="http://schemas.openxmlformats.org/drawingml/2006/main">
            <a:off x="685800" y="18573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6D67"/>
                </a:solidFill>
                <a:latin typeface="Arial"/>
                <a:ea typeface="Arial"/>
                <a:cs typeface="Arial"/>
              </a:defRPr>
            </a:pPr>
            <a:r>
              <a:rPr sz="3150" b="1">
                <a:solidFill>
                  <a:srgbClr val="116D67"/>
                </a:solidFill>
                <a:latin typeface="Arial"/>
                <a:ea typeface="Arial"/>
                <a:cs typeface="Arial"/>
              </a:rPr>
              <a:t>6 validation checks passed</a:t>
            </a:r>
          </a:p>
        </p:txBody>
      </p:sp>
      <p:sp>
        <p:nvSpPr>
          <p:cNvPr id="3" name="">
            <a:extLst xmlns:a="http://schemas.openxmlformats.org/drawingml/2006/main">
              <a:ext uri="{FF2B5EF4-FFF2-40B4-BE49-F238E27FC236}">
                <a16:creationId xmlns:a16="http://schemas.microsoft.com/office/drawing/2014/main" id="{20BC4D37-62F2-4762-A223-58A25EC08E61}"/>
              </a:ext>
            </a:extLst>
          </p:cNvPr>
          <p:cNvSpPr>
            <a:spLocks xmlns:a="http://schemas.openxmlformats.org/drawingml/2006/main" noGrp="1"/>
          </p:cNvSpPr>
          <p:nvPr/>
        </p:nvSpPr>
        <p:spPr>
          <a:xfrm xmlns:a="http://schemas.openxmlformats.org/drawingml/2006/main">
            <a:off x="685800" y="27622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53"/>
                </a:solidFill>
                <a:latin typeface="Arial"/>
                <a:ea typeface="Arial"/>
                <a:cs typeface="Arial"/>
              </a:defRPr>
            </a:pPr>
            <a:r>
              <a:rPr sz="2100" b="0">
                <a:solidFill>
                  <a:srgbClr val="173A53"/>
                </a:solidFill>
                <a:latin typeface="Arial"/>
                <a:ea typeface="Arial"/>
                <a:cs typeface="Arial"/>
              </a:rPr>
              <a:t>Blank fields, email format and login password rules</a:t>
            </a:r>
          </a:p>
        </p:txBody>
      </p:sp>
      <p:sp>
        <p:nvSpPr>
          <p:cNvPr id="4" name="">
            <a:extLst xmlns:a="http://schemas.openxmlformats.org/drawingml/2006/main">
              <a:ext uri="{FF2B5EF4-FFF2-40B4-BE49-F238E27FC236}">
                <a16:creationId xmlns:a16="http://schemas.microsoft.com/office/drawing/2014/main" id="{02BB31B6-282C-4F23-AC9D-636A475643FF}"/>
              </a:ext>
            </a:extLst>
          </p:cNvPr>
          <p:cNvSpPr>
            <a:spLocks xmlns:a="http://schemas.openxmlformats.org/drawingml/2006/main" noGrp="1"/>
          </p:cNvSpPr>
          <p:nvPr/>
        </p:nvSpPr>
        <p:spPr>
          <a:xfrm xmlns:a="http://schemas.openxmlformats.org/drawingml/2006/main">
            <a:off x="685800" y="3848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6D67"/>
                </a:solidFill>
                <a:latin typeface="Arial"/>
                <a:ea typeface="Arial"/>
                <a:cs typeface="Arial"/>
              </a:defRPr>
            </a:pPr>
            <a:r>
              <a:rPr sz="3150" b="1">
                <a:solidFill>
                  <a:srgbClr val="116D67"/>
                </a:solidFill>
                <a:latin typeface="Arial"/>
                <a:ea typeface="Arial"/>
                <a:cs typeface="Arial"/>
              </a:rPr>
              <a:t>9 device checks passed</a:t>
            </a:r>
          </a:p>
        </p:txBody>
      </p:sp>
      <p:sp>
        <p:nvSpPr>
          <p:cNvPr id="5" name="">
            <a:extLst xmlns:a="http://schemas.openxmlformats.org/drawingml/2006/main">
              <a:ext uri="{FF2B5EF4-FFF2-40B4-BE49-F238E27FC236}">
                <a16:creationId xmlns:a16="http://schemas.microsoft.com/office/drawing/2014/main" id="{7ED89DC0-6B7F-4346-9436-FE588249BE6C}"/>
              </a:ext>
            </a:extLst>
          </p:cNvPr>
          <p:cNvSpPr>
            <a:spLocks xmlns:a="http://schemas.openxmlformats.org/drawingml/2006/main" noGrp="1"/>
          </p:cNvSpPr>
          <p:nvPr/>
        </p:nvSpPr>
        <p:spPr>
          <a:xfrm xmlns:a="http://schemas.openxmlformats.org/drawingml/2006/main">
            <a:off x="685800" y="47434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53"/>
                </a:solidFill>
                <a:latin typeface="Arial"/>
                <a:ea typeface="Arial"/>
                <a:cs typeface="Arial"/>
              </a:defRPr>
            </a:pPr>
            <a:r>
              <a:rPr sz="2100" b="0">
                <a:solidFill>
                  <a:srgbClr val="173A53"/>
                </a:solidFill>
                <a:latin typeface="Arial"/>
                <a:ea typeface="Arial"/>
                <a:cs typeface="Arial"/>
              </a:rPr>
              <a:t>Login outcomes, masking, session restoration and sign-out</a:t>
            </a:r>
          </a:p>
        </p:txBody>
      </p:sp>
      <p:sp>
        <p:nvSpPr>
          <p:cNvPr id="6" name="">
            <a:extLst xmlns:a="http://schemas.openxmlformats.org/drawingml/2006/main">
              <a:ext uri="{FF2B5EF4-FFF2-40B4-BE49-F238E27FC236}">
                <a16:creationId xmlns:a16="http://schemas.microsoft.com/office/drawing/2014/main" id="{D8984585-482E-4C77-99C6-6A3E5FDBE623}"/>
              </a:ext>
            </a:extLst>
          </p:cNvPr>
          <p:cNvSpPr>
            <a:spLocks xmlns:a="http://schemas.openxmlformats.org/drawingml/2006/main" noGrp="1"/>
          </p:cNvSpPr>
          <p:nvPr/>
        </p:nvSpPr>
        <p:spPr>
          <a:xfrm xmlns:a="http://schemas.openxmlformats.org/drawingml/2006/main">
            <a:off x="685800" y="60674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9"/>
                </a:solidFill>
                <a:latin typeface="Arial"/>
                <a:ea typeface="Arial"/>
                <a:cs typeface="Arial"/>
              </a:defRPr>
            </a:pPr>
            <a:r>
              <a:rPr sz="1575" b="0">
                <a:solidFill>
                  <a:srgbClr val="526779"/>
                </a:solidFill>
                <a:latin typeface="Arial"/>
                <a:ea typeface="Arial"/>
                <a:cs typeface="Arial"/>
              </a:rPr>
              <a:t>Android 9 device emulator and local Firebase Auth. Cloud checks remain pending.</a:t>
            </a:r>
          </a:p>
        </p:txBody>
      </p:sp>
    </p:spTree>
    <p:extLst>
      <p:ext uri="{BB962C8B-B14F-4D97-AF65-F5344CB8AC3E}">
        <p14:creationId xmlns:p14="http://schemas.microsoft.com/office/powerpoint/2010/main" val="20385535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8E7739-29E5-473A-B0AF-BBC06C03A0A4}"/>
              </a:ext>
            </a:extLst>
          </p:cNvPr>
          <p:cNvSpPr>
            <a:spLocks xmlns:a="http://schemas.openxmlformats.org/drawingml/2006/main" noGrp="1"/>
          </p:cNvSpPr>
          <p:nvPr/>
        </p:nvSpPr>
        <p:spPr>
          <a:xfrm xmlns:a="http://schemas.openxmlformats.org/drawingml/2006/main">
            <a:off x="685800" y="523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A53"/>
                </a:solidFill>
                <a:latin typeface="Arial"/>
                <a:ea typeface="Arial"/>
                <a:cs typeface="Arial"/>
              </a:defRPr>
            </a:pPr>
            <a:r>
              <a:rPr sz="3450" b="1">
                <a:solidFill>
                  <a:srgbClr val="173A53"/>
                </a:solidFill>
                <a:latin typeface="Arial"/>
                <a:ea typeface="Arial"/>
                <a:cs typeface="Arial"/>
              </a:rPr>
              <a:t>Registration contribution</a:t>
            </a:r>
          </a:p>
        </p:txBody>
      </p:sp>
      <p:sp>
        <p:nvSpPr>
          <p:cNvPr id="2" name="">
            <a:extLst xmlns:a="http://schemas.openxmlformats.org/drawingml/2006/main">
              <a:ext uri="{FF2B5EF4-FFF2-40B4-BE49-F238E27FC236}">
                <a16:creationId xmlns:a16="http://schemas.microsoft.com/office/drawing/2014/main" id="{367CC628-6271-40A8-99B2-B76546FB73B3}"/>
              </a:ext>
            </a:extLst>
          </p:cNvPr>
          <p:cNvSpPr>
            <a:spLocks xmlns:a="http://schemas.openxmlformats.org/drawingml/2006/main" noGrp="1"/>
          </p:cNvSpPr>
          <p:nvPr/>
        </p:nvSpPr>
        <p:spPr>
          <a:xfrm xmlns:a="http://schemas.openxmlformats.org/drawingml/2006/main">
            <a:off x="685800" y="1809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16D67"/>
                </a:solidFill>
                <a:latin typeface="Arial"/>
                <a:ea typeface="Arial"/>
                <a:cs typeface="Arial"/>
              </a:defRPr>
            </a:pPr>
            <a:r>
              <a:rPr sz="2550" b="1">
                <a:solidFill>
                  <a:srgbClr val="116D67"/>
                </a:solidFill>
                <a:latin typeface="Arial"/>
                <a:ea typeface="Arial"/>
                <a:cs typeface="Arial"/>
              </a:rPr>
              <a:t>Teammate section</a:t>
            </a:r>
          </a:p>
        </p:txBody>
      </p:sp>
      <p:sp>
        <p:nvSpPr>
          <p:cNvPr id="3" name="">
            <a:extLst xmlns:a="http://schemas.openxmlformats.org/drawingml/2006/main">
              <a:ext uri="{FF2B5EF4-FFF2-40B4-BE49-F238E27FC236}">
                <a16:creationId xmlns:a16="http://schemas.microsoft.com/office/drawing/2014/main" id="{CFAF901E-A592-409A-9310-8BA0613E9ED7}"/>
              </a:ext>
            </a:extLst>
          </p:cNvPr>
          <p:cNvSpPr>
            <a:spLocks xmlns:a="http://schemas.openxmlformats.org/drawingml/2006/main" noGrp="1"/>
          </p:cNvSpPr>
          <p:nvPr/>
        </p:nvSpPr>
        <p:spPr>
          <a:xfrm xmlns:a="http://schemas.openxmlformats.org/drawingml/2006/main">
            <a:off x="685800" y="28098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A53"/>
                </a:solidFill>
                <a:latin typeface="Arial"/>
                <a:ea typeface="Arial"/>
                <a:cs typeface="Arial"/>
              </a:defRPr>
            </a:pPr>
            <a:r>
              <a:rPr sz="2400" b="0">
                <a:solidFill>
                  <a:srgbClr val="173A53"/>
                </a:solidFill>
                <a:latin typeface="Arial"/>
                <a:ea typeface="Arial"/>
                <a:cs typeface="Arial"/>
              </a:rPr>
              <a:t>Add the registration screen and account creation demo.</a:t>
            </a:r>
          </a:p>
        </p:txBody>
      </p:sp>
      <p:sp>
        <p:nvSpPr>
          <p:cNvPr id="4" name="">
            <a:extLst xmlns:a="http://schemas.openxmlformats.org/drawingml/2006/main">
              <a:ext uri="{FF2B5EF4-FFF2-40B4-BE49-F238E27FC236}">
                <a16:creationId xmlns:a16="http://schemas.microsoft.com/office/drawing/2014/main" id="{9A2FF7F3-C798-4629-851E-1BFD2D843B3C}"/>
              </a:ext>
            </a:extLst>
          </p:cNvPr>
          <p:cNvSpPr>
            <a:spLocks xmlns:a="http://schemas.openxmlformats.org/drawingml/2006/main" noGrp="1"/>
          </p:cNvSpPr>
          <p:nvPr/>
        </p:nvSpPr>
        <p:spPr>
          <a:xfrm xmlns:a="http://schemas.openxmlformats.org/drawingml/2006/main">
            <a:off x="685800" y="41624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A53"/>
                </a:solidFill>
                <a:latin typeface="Arial"/>
                <a:ea typeface="Arial"/>
                <a:cs typeface="Arial"/>
              </a:defRPr>
            </a:pPr>
            <a:r>
              <a:rPr sz="2400" b="0">
                <a:solidFill>
                  <a:srgbClr val="173A53"/>
                </a:solidFill>
                <a:latin typeface="Arial"/>
                <a:ea typeface="Arial"/>
                <a:cs typeface="Arial"/>
              </a:rPr>
              <a:t>Add registration test results and the register-then-login check.</a:t>
            </a:r>
          </a:p>
        </p:txBody>
      </p:sp>
      <p:sp>
        <p:nvSpPr>
          <p:cNvPr id="5" name="">
            <a:extLst xmlns:a="http://schemas.openxmlformats.org/drawingml/2006/main">
              <a:ext uri="{FF2B5EF4-FFF2-40B4-BE49-F238E27FC236}">
                <a16:creationId xmlns:a16="http://schemas.microsoft.com/office/drawing/2014/main" id="{85B7FB09-2E65-4F80-B615-471AE5C291E8}"/>
              </a:ext>
            </a:extLst>
          </p:cNvPr>
          <p:cNvSpPr>
            <a:spLocks xmlns:a="http://schemas.openxmlformats.org/drawingml/2006/main" noGrp="1"/>
          </p:cNvSpPr>
          <p:nvPr/>
        </p:nvSpPr>
        <p:spPr>
          <a:xfrm xmlns:a="http://schemas.openxmlformats.org/drawingml/2006/main">
            <a:off x="685800" y="5857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9"/>
                </a:solidFill>
                <a:latin typeface="Arial"/>
                <a:ea typeface="Arial"/>
                <a:cs typeface="Arial"/>
              </a:defRPr>
            </a:pPr>
            <a:r>
              <a:rPr sz="1725" b="0">
                <a:solidFill>
                  <a:srgbClr val="526779"/>
                </a:solidFill>
                <a:latin typeface="Arial"/>
                <a:ea typeface="Arial"/>
                <a:cs typeface="Arial"/>
              </a:rPr>
              <a:t>Pending teammate implementation and integration</a:t>
            </a:r>
          </a:p>
        </p:txBody>
      </p:sp>
    </p:spTree>
    <p:extLst>
      <p:ext uri="{BB962C8B-B14F-4D97-AF65-F5344CB8AC3E}">
        <p14:creationId xmlns:p14="http://schemas.microsoft.com/office/powerpoint/2010/main" val="9648751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6F2F70-F368-48DC-81E1-040E088C8A74}"/>
              </a:ext>
            </a:extLst>
          </p:cNvPr>
          <p:cNvSpPr>
            <a:spLocks xmlns:a="http://schemas.openxmlformats.org/drawingml/2006/main" noGrp="1"/>
          </p:cNvSpPr>
          <p:nvPr/>
        </p:nvSpPr>
        <p:spPr>
          <a:xfrm xmlns:a="http://schemas.openxmlformats.org/drawingml/2006/main">
            <a:off x="685800" y="523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A53"/>
                </a:solidFill>
                <a:latin typeface="Arial"/>
                <a:ea typeface="Arial"/>
                <a:cs typeface="Arial"/>
              </a:defRPr>
            </a:pPr>
            <a:r>
              <a:rPr sz="3450" b="1">
                <a:solidFill>
                  <a:srgbClr val="173A53"/>
                </a:solidFill>
                <a:latin typeface="Arial"/>
                <a:ea typeface="Arial"/>
                <a:cs typeface="Arial"/>
              </a:rPr>
              <a:t>Remaining Sprint 1 work</a:t>
            </a:r>
          </a:p>
        </p:txBody>
      </p:sp>
      <p:sp>
        <p:nvSpPr>
          <p:cNvPr id="2" name="">
            <a:extLst xmlns:a="http://schemas.openxmlformats.org/drawingml/2006/main">
              <a:ext uri="{FF2B5EF4-FFF2-40B4-BE49-F238E27FC236}">
                <a16:creationId xmlns:a16="http://schemas.microsoft.com/office/drawing/2014/main" id="{11875F2F-B803-486B-B005-6BD4DDBCAA5D}"/>
              </a:ext>
            </a:extLst>
          </p:cNvPr>
          <p:cNvSpPr>
            <a:spLocks xmlns:a="http://schemas.openxmlformats.org/drawingml/2006/main" noGrp="1"/>
          </p:cNvSpPr>
          <p:nvPr/>
        </p:nvSpPr>
        <p:spPr>
          <a:xfrm xmlns:a="http://schemas.openxmlformats.org/drawingml/2006/main">
            <a:off x="685800" y="18097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A53"/>
                </a:solidFill>
                <a:latin typeface="Arial"/>
                <a:ea typeface="Arial"/>
                <a:cs typeface="Arial"/>
              </a:defRPr>
            </a:pPr>
            <a:r>
              <a:rPr sz="2400" b="0">
                <a:solidFill>
                  <a:srgbClr val="173A53"/>
                </a:solidFill>
                <a:latin typeface="Arial"/>
                <a:ea typeface="Arial"/>
                <a:cs typeface="Arial"/>
              </a:rPr>
              <a:t>Team Firebase setup and cloud verification</a:t>
            </a:r>
          </a:p>
        </p:txBody>
      </p:sp>
      <p:sp>
        <p:nvSpPr>
          <p:cNvPr id="3" name="">
            <a:extLst xmlns:a="http://schemas.openxmlformats.org/drawingml/2006/main">
              <a:ext uri="{FF2B5EF4-FFF2-40B4-BE49-F238E27FC236}">
                <a16:creationId xmlns:a16="http://schemas.microsoft.com/office/drawing/2014/main" id="{83EA9596-1769-44F2-9B07-3C5E9243C985}"/>
              </a:ext>
            </a:extLst>
          </p:cNvPr>
          <p:cNvSpPr>
            <a:spLocks xmlns:a="http://schemas.openxmlformats.org/drawingml/2006/main" noGrp="1"/>
          </p:cNvSpPr>
          <p:nvPr/>
        </p:nvSpPr>
        <p:spPr>
          <a:xfrm xmlns:a="http://schemas.openxmlformats.org/drawingml/2006/main">
            <a:off x="685800" y="29908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A53"/>
                </a:solidFill>
                <a:latin typeface="Arial"/>
                <a:ea typeface="Arial"/>
                <a:cs typeface="Arial"/>
              </a:defRPr>
            </a:pPr>
            <a:r>
              <a:rPr sz="2400" b="0">
                <a:solidFill>
                  <a:srgbClr val="173A53"/>
                </a:solidFill>
                <a:latin typeface="Arial"/>
                <a:ea typeface="Arial"/>
                <a:cs typeface="Arial"/>
              </a:rPr>
              <a:t>Registration integration and shared-account testing</a:t>
            </a:r>
          </a:p>
        </p:txBody>
      </p:sp>
      <p:sp>
        <p:nvSpPr>
          <p:cNvPr id="4" name="">
            <a:extLst xmlns:a="http://schemas.openxmlformats.org/drawingml/2006/main">
              <a:ext uri="{FF2B5EF4-FFF2-40B4-BE49-F238E27FC236}">
                <a16:creationId xmlns:a16="http://schemas.microsoft.com/office/drawing/2014/main" id="{3AB5F866-0B6F-4B5B-B3CE-16408E52E7AE}"/>
              </a:ext>
            </a:extLst>
          </p:cNvPr>
          <p:cNvSpPr>
            <a:spLocks xmlns:a="http://schemas.openxmlformats.org/drawingml/2006/main" noGrp="1"/>
          </p:cNvSpPr>
          <p:nvPr/>
        </p:nvSpPr>
        <p:spPr>
          <a:xfrm xmlns:a="http://schemas.openxmlformats.org/drawingml/2006/main">
            <a:off x="685800" y="42957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A53"/>
                </a:solidFill>
                <a:latin typeface="Arial"/>
                <a:ea typeface="Arial"/>
                <a:cs typeface="Arial"/>
              </a:defRPr>
            </a:pPr>
            <a:r>
              <a:rPr sz="2400" b="0">
                <a:solidFill>
                  <a:srgbClr val="173A53"/>
                </a:solidFill>
                <a:latin typeface="Arial"/>
                <a:ea typeface="Arial"/>
                <a:cs typeface="Arial"/>
              </a:rPr>
              <a:t>Provider failures and request lifecycle checks</a:t>
            </a:r>
          </a:p>
        </p:txBody>
      </p:sp>
      <p:sp>
        <p:nvSpPr>
          <p:cNvPr id="5" name="">
            <a:extLst xmlns:a="http://schemas.openxmlformats.org/drawingml/2006/main">
              <a:ext uri="{FF2B5EF4-FFF2-40B4-BE49-F238E27FC236}">
                <a16:creationId xmlns:a16="http://schemas.microsoft.com/office/drawing/2014/main" id="{E31B2EA8-173B-4122-BE82-2BF9A4C4705F}"/>
              </a:ext>
            </a:extLst>
          </p:cNvPr>
          <p:cNvSpPr>
            <a:spLocks xmlns:a="http://schemas.openxmlformats.org/drawingml/2006/main" noGrp="1"/>
          </p:cNvSpPr>
          <p:nvPr/>
        </p:nvSpPr>
        <p:spPr>
          <a:xfrm xmlns:a="http://schemas.openxmlformats.org/drawingml/2006/main">
            <a:off x="685800" y="54959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A53"/>
                </a:solidFill>
                <a:latin typeface="Arial"/>
                <a:ea typeface="Arial"/>
                <a:cs typeface="Arial"/>
              </a:defRPr>
            </a:pPr>
            <a:r>
              <a:rPr sz="2250" b="0">
                <a:solidFill>
                  <a:srgbClr val="173A53"/>
                </a:solidFill>
                <a:latin typeface="Arial"/>
                <a:ea typeface="Arial"/>
                <a:cs typeface="Arial"/>
              </a:rPr>
              <a:t>Two real meeting records and the sprint submission package</a:t>
            </a:r>
          </a:p>
        </p:txBody>
      </p:sp>
    </p:spTree>
    <p:extLst>
      <p:ext uri="{BB962C8B-B14F-4D97-AF65-F5344CB8AC3E}">
        <p14:creationId xmlns:p14="http://schemas.microsoft.com/office/powerpoint/2010/main" val="9919713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2026-10-03T15:54:07.4260000Z</dcterms:created>
  <dcterms:modified xsi:type="dcterms:W3CDTF">2026-10-03T15:54:07.4260000Z</dcterms:modified>
</coreProperties>
</file>