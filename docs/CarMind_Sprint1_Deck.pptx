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6ee331d26e473a" /><Relationship Type="http://schemas.openxmlformats.org/officeDocument/2006/relationships/extended-properties" Target="/docProps/app.xml" Id="Re7001ed5891143af" /><Relationship Type="http://schemas.openxmlformats.org/officeDocument/2006/relationships/officeDocument" Target="/ppt/presentation.xml" Id="R6a07b3b66e9745d6" /></Relationships>
</file>

<file path=ppt/presentation.xml><?xml version="1.0" encoding="utf-8"?>
<p:presentation xmlns:p="http://schemas.openxmlformats.org/presentationml/2006/main">
  <p:sldMasterIdLst>
    <p:sldMasterId xmlns:r="http://schemas.openxmlformats.org/officeDocument/2006/relationships" id="2147483648" r:id="R86d69b0e9e9b4470"/>
  </p:sldMasterIdLst>
  <p:notesMasterIdLst>
    <p:notesMasterId xmlns:r="http://schemas.openxmlformats.org/officeDocument/2006/relationships" r:id="R5d3d4bbfb3734adb"/>
  </p:notesMasterIdLst>
  <p:sldIdLst>
    <p:sldId xmlns:r="http://schemas.openxmlformats.org/officeDocument/2006/relationships" id="256" r:id="R34265234300a4af3"/>
    <p:sldId xmlns:r="http://schemas.openxmlformats.org/officeDocument/2006/relationships" id="257" r:id="R3f358d04a7384bc5"/>
    <p:sldId xmlns:r="http://schemas.openxmlformats.org/officeDocument/2006/relationships" id="258" r:id="R9e4495c9146646c3"/>
    <p:sldId xmlns:r="http://schemas.openxmlformats.org/officeDocument/2006/relationships" id="259" r:id="Ra5de7284cd5f426b"/>
    <p:sldId xmlns:r="http://schemas.openxmlformats.org/officeDocument/2006/relationships" id="260" r:id="R450992c1b9c34dfd"/>
    <p:sldId xmlns:r="http://schemas.openxmlformats.org/officeDocument/2006/relationships" id="261" r:id="R68a9467445df4c9a"/>
    <p:sldId xmlns:r="http://schemas.openxmlformats.org/officeDocument/2006/relationships" id="262" r:id="R4247304eca534351"/>
    <p:sldId xmlns:r="http://schemas.openxmlformats.org/officeDocument/2006/relationships" id="263" r:id="R96814b0fa4614b2c"/>
    <p:sldId xmlns:r="http://schemas.openxmlformats.org/officeDocument/2006/relationships" id="264" r:id="R405c56f24a934149"/>
    <p:sldId xmlns:r="http://schemas.openxmlformats.org/officeDocument/2006/relationships" id="265" r:id="R9be3cf09cb1345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5b61e165b34a74" /><Relationship Type="http://schemas.openxmlformats.org/officeDocument/2006/relationships/slideMaster" Target="/ppt/slideMasters/slideMaster1.xml" Id="R86d69b0e9e9b4470" /><Relationship Type="http://schemas.openxmlformats.org/officeDocument/2006/relationships/notesMaster" Target="/ppt/notesMasters/notesMaster1.xml" Id="R5d3d4bbfb3734adb" /><Relationship Type="http://schemas.openxmlformats.org/officeDocument/2006/relationships/presProps" Target="/ppt/presProps.xml" Id="R80682a2255754535" /><Relationship Type="http://schemas.openxmlformats.org/officeDocument/2006/relationships/tableStyles" Target="/ppt/tableStyles.xml" Id="R5f0d22dfb29648b9" /><Relationship Type="http://schemas.openxmlformats.org/officeDocument/2006/relationships/slide" Target="/ppt/slides/slide1.xml" Id="R34265234300a4af3" /><Relationship Type="http://schemas.openxmlformats.org/officeDocument/2006/relationships/slide" Target="/ppt/slides/slide2.xml" Id="R3f358d04a7384bc5" /><Relationship Type="http://schemas.openxmlformats.org/officeDocument/2006/relationships/slide" Target="/ppt/slides/slide3.xml" Id="R9e4495c9146646c3" /><Relationship Type="http://schemas.openxmlformats.org/officeDocument/2006/relationships/slide" Target="/ppt/slides/slide4.xml" Id="Ra5de7284cd5f426b" /><Relationship Type="http://schemas.openxmlformats.org/officeDocument/2006/relationships/slide" Target="/ppt/slides/slide5.xml" Id="R450992c1b9c34dfd" /><Relationship Type="http://schemas.openxmlformats.org/officeDocument/2006/relationships/slide" Target="/ppt/slides/slide6.xml" Id="R68a9467445df4c9a" /><Relationship Type="http://schemas.openxmlformats.org/officeDocument/2006/relationships/slide" Target="/ppt/slides/slide7.xml" Id="R4247304eca534351" /><Relationship Type="http://schemas.openxmlformats.org/officeDocument/2006/relationships/slide" Target="/ppt/slides/slide8.xml" Id="R96814b0fa4614b2c" /><Relationship Type="http://schemas.openxmlformats.org/officeDocument/2006/relationships/slide" Target="/ppt/slides/slide9.xml" Id="R405c56f24a934149" /><Relationship Type="http://schemas.openxmlformats.org/officeDocument/2006/relationships/slide" Target="/ppt/slides/slide10.xml" Id="R9be3cf09cb1345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308ffd34ba48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e291ef5410416f" /><Relationship Type="http://schemas.openxmlformats.org/officeDocument/2006/relationships/notesMaster" Target="/ppt/notesMasters/notesMaster1.xml" Id="R554a111f4a814f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a6aa8e89174137" /><Relationship Type="http://schemas.openxmlformats.org/officeDocument/2006/relationships/notesMaster" Target="/ppt/notesMasters/notesMaster1.xml" Id="R7e54d44e38f849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347afdb29047f9" /><Relationship Type="http://schemas.openxmlformats.org/officeDocument/2006/relationships/notesMaster" Target="/ppt/notesMasters/notesMaster1.xml" Id="Rdf4c836d13ec4b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2bd07fd7b94041" /><Relationship Type="http://schemas.openxmlformats.org/officeDocument/2006/relationships/notesMaster" Target="/ppt/notesMasters/notesMaster1.xml" Id="R6e61ebb3a2a543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235f8a1a554ba5" /><Relationship Type="http://schemas.openxmlformats.org/officeDocument/2006/relationships/notesMaster" Target="/ppt/notesMasters/notesMaster1.xml" Id="R5f41ea4abe3648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3bee62910d4ef6" /><Relationship Type="http://schemas.openxmlformats.org/officeDocument/2006/relationships/notesMaster" Target="/ppt/notesMasters/notesMaster1.xml" Id="Rae3301c172f743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d0eceb06c44ca5" /><Relationship Type="http://schemas.openxmlformats.org/officeDocument/2006/relationships/notesMaster" Target="/ppt/notesMasters/notesMaster1.xml" Id="Rf3bc4a9292b646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79f75f91434e86" /><Relationship Type="http://schemas.openxmlformats.org/officeDocument/2006/relationships/notesMaster" Target="/ppt/notesMasters/notesMaster1.xml" Id="Rb8764c1ad3394a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3ba5a7782a4c37" /><Relationship Type="http://schemas.openxmlformats.org/officeDocument/2006/relationships/notesMaster" Target="/ppt/notesMasters/notesMaster1.xml" Id="Rf706dc3e0a5b4c2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ccfb0afffa4d7e" /><Relationship Type="http://schemas.openxmlformats.org/officeDocument/2006/relationships/notesMaster" Target="/ppt/notesMasters/notesMaster1.xml" Id="R607a6e5b3c9c4a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Abdullah Misar. This is my Sprint 1 login and authentication contribution to CarMind for CCSW431. Our course version uses native Android Java and XML. The demo uses the local Firebase Auth emulator because we do not yet have a team cloud project. Registration belongs to my teammate. The cover is an AI-generated automotive illustration, not a photo of an actual vehicle or app evidence. Sources: Final_Project_CCSW431.pdf, PDF pages 3 and 5. CarMind_Senior_Project_I_Final_Report.pdf, concept sections. Course examples: https://ccsw431.malahmadi.sa/.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CarMind is based on our senior-project concept of vehicle information and maintenance support. Those vehicle features are outside this login increment. Story 002 is: As a registered CarMind user, I want to sign in using my email and password so I can access my account. The course requires registration and login/authentication in Sprint 1. I own login, and my teammate will add registration. Sources: Final_Project_CCSW431.pdf, PDF pages 3, 5 and 10-11. CarMind_Senior_Project_I_Final_Report.pdf, concept sections. Course Java/XML examples and Firebase sample: https://ccsw431.malahmadi.sa/.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actual screen before touching the demo. The email field trims surrounding whitespace. Passwords start masked and Show password reveals them only when selected. The password itself stays exactly as entered. During an asynchronous Firebase request, the app disables the form and shows progress. The implementation includes this guard, but the rapid-submission manual test still remains pending. Screenshot source: docs/screenshots/login.png, genuine capture of the emulator-mode APK. Code: LoginActivity.java and LoginValidation.java.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checks required fields and email format locally before calling Firebase. This example enters driver without a domain. The validation message appears next to the form. No authentication request is necessary to detect this input error. Email whitespace is trimmed, and password characters remain unchanged. Screenshot: docs/screenshots/invalid-email.png, native crop of a genuine Android capture retaining the entered email, password field, visible validation message and Sign in action. Sources: LoginValidation.java, LoginActivity.java and LOGIN-02 in device-check-results.json.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what happens with the wrong password. Firebase rejects the credentials and the user stays on the login screen. The form becomes available for another attempt. The generic message does not disclose whether the email or the password was wrong. This screenshot proves the local wrong-password case only. Network failures, disabled accounts and provider throttling still need cloud/manual checks. Source: LoginActivity.java, LOGIN-05 in device-check-results.json. Screenshot: docs/screenshots/invalid-credentials.png. Firebase password auth documentation: https://firebase.google.com/docs/auth/android/password-auth.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 local credentials open Home and display the account email. This is the minimal authenticated landing screen for Sprint 1, not a completed vehicle dashboard. The account shown is a disposable local emulator account using the reserved example.com domain. The deck contains no password, token or cloud credentials. Source: HomeActivity.java, LOGIN-06 in docs/device-check-results.json. Screenshot: docs/screenshots/home.png. Firebase Android password auth: https://firebase.google.com/docs/auth/android/password-auth.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Firebase SDK restores the existing session after the app restarts, and LoginActivity opens Home. Sign-out clears the Firebase session and opens Login with the activity task cleared. Back and restart do not reopen Home. The screenshot records the actual signed-out state after using the home screen Sign out action. Source: LoginActivity.java, HomeActivity.java, LOGIN-07 and LOGIN-08 in device-check-results.json. Screenshot: docs/screenshots/signed-out.png.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JVM input-validation tests passed with zero failures and errors. Nine device checks passed on Android API 28 with the built debug APK and the local Firebase Auth emulator. LOGIN-01 blank form, LOGIN-02 malformed email, LOGIN-03 blank password, LOGIN-04 masking, LOGIN-05 incorrect credentials, LOGIN-06 successful login, LOGIN-07 restored session, LOGIN-08 sign-out and navigation guard, LOGIN-09 unchanged password spaces. Android debug/release builds and lint passed, with lint reporting zero errors and five warnings. Sources: docs/TEST_RESULTS.txt, docs/device-check-results.json and app/src/test/java/com/carmind/app/LoginValidationTest.java. These are local results. Rapid repeated submission, cloud network failure, disabled accounts, throttling, pending-request lifecycle and registration integration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Reserved for my teammate to replace with the real registration implementation, presenter name, genuine screenshot and actual test results. Course Story 001 requires registration. The registration implementation must share CarMindApplication.getAuth(). After integration, verify that a user created through Registration can sign in. This slide contains no claim that registration is completed. Source: README.md Registration integration, docs/SPRINT1.md and Final_Project_CCSW431.pdf PDF page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login contribution is ready for the local demo. The remaining team tasks are to configure the actual Firebase project and enable Email/Password auth, integrate registration and verify a new account, run the remaining provider/lifecycle checks and complete the course submission with two actual meeting records, test evidence and the source ZIP. Do not claim the two meetings occurred until the team supplies real records. Suggested live demo: open blank Login, enter an invalid email, show wrong credentials, sign in using the seeded local account, restart the app to show restoration, then sign out and check Back. The feature is a local implementation until the cloud checks are completed. Sources: docs/SPRINT1.md, docs/TEST_RESULTS.txt, Final_Project_CCSW431.pdf PDF pages 3-4 and 7. Firebase setup: https://firebase.google.com/docs/auth/android/password-auth.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2aa98de6204c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90e3e2a1ab45d5" /><Relationship Type="http://schemas.openxmlformats.org/officeDocument/2006/relationships/slideLayout" Target="/ppt/slideLayouts/slideLayout1.xml" Id="R803134b1781344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3134b1781344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2fb5539dff4dab" /><Relationship Type="http://schemas.openxmlformats.org/officeDocument/2006/relationships/image" Target="/ppt/media/image.png" Id="R0d59663b7b8641e9" /><Relationship Type="http://schemas.openxmlformats.org/officeDocument/2006/relationships/notesSlide" Target="/ppt/notesSlides/notesSlide1.xml" Id="R7bf4147483da40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5da41fcf9b403e" /><Relationship Type="http://schemas.openxmlformats.org/officeDocument/2006/relationships/notesSlide" Target="/ppt/notesSlides/notesSlide2.xml" Id="R000ccaf9f32843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08d87a6e934c40" /><Relationship Type="http://schemas.openxmlformats.org/officeDocument/2006/relationships/image" Target="/ppt/media/image2.png" Id="Rbcffeba105bd4f0e" /><Relationship Type="http://schemas.openxmlformats.org/officeDocument/2006/relationships/notesSlide" Target="/ppt/notesSlides/notesSlide3.xml" Id="R32babcca3f9042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4ce847e4b34c8c" /><Relationship Type="http://schemas.openxmlformats.org/officeDocument/2006/relationships/image" Target="/ppt/media/image3.png" Id="Rd8cc7b7b760f4c03" /><Relationship Type="http://schemas.openxmlformats.org/officeDocument/2006/relationships/notesSlide" Target="/ppt/notesSlides/notesSlide4.xml" Id="R414bd526651341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87f258e10004458" /><Relationship Type="http://schemas.openxmlformats.org/officeDocument/2006/relationships/image" Target="/ppt/media/image4.png" Id="Rcd780b6749d54979" /><Relationship Type="http://schemas.openxmlformats.org/officeDocument/2006/relationships/notesSlide" Target="/ppt/notesSlides/notesSlide5.xml" Id="Rc822986d3c2942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0bdd9df55b451e" /><Relationship Type="http://schemas.openxmlformats.org/officeDocument/2006/relationships/image" Target="/ppt/media/image5.png" Id="Ra8d9589875e844be" /><Relationship Type="http://schemas.openxmlformats.org/officeDocument/2006/relationships/notesSlide" Target="/ppt/notesSlides/notesSlide6.xml" Id="Rb01a950e284148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872b14af7e4077" /><Relationship Type="http://schemas.openxmlformats.org/officeDocument/2006/relationships/image" Target="/ppt/media/image6.png" Id="R208052123f8c4318" /><Relationship Type="http://schemas.openxmlformats.org/officeDocument/2006/relationships/notesSlide" Target="/ppt/notesSlides/notesSlide7.xml" Id="R43c7a4f0b21443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8d091b78f640d3" /><Relationship Type="http://schemas.openxmlformats.org/officeDocument/2006/relationships/notesSlide" Target="/ppt/notesSlides/notesSlide8.xml" Id="R88fd2d08726145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cbb44f46714b6a" /><Relationship Type="http://schemas.openxmlformats.org/officeDocument/2006/relationships/notesSlide" Target="/ppt/notesSlides/notesSlide9.xml" Id="R1ccd6601d96a40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a26fb971f54006" /><Relationship Type="http://schemas.openxmlformats.org/officeDocument/2006/relationships/notesSlide" Target="/ppt/notesSlides/notesSlide10.xml" Id="R9dfd73818eaa47c1" /></Relationships>
</file>

<file path=ppt/slides/slide1.xml><?xml version="1.0" encoding="utf-8"?>
<p:sld xmlns:p="http://schemas.openxmlformats.org/presentationml/2006/main">
  <p:cSld>
    <p:bg>
      <p:bgPr>
        <a:solidFill xmlns:a="http://schemas.openxmlformats.org/drawingml/2006/main">
          <a:srgbClr val="0B1E2B"/>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d59663b7b8641e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F0E9B94-1FB1-401C-B750-31D4E4A3DFFD}"/>
              </a:ext>
            </a:extLst>
          </p:cNvPr>
          <p:cNvSpPr>
            <a:spLocks xmlns:a="http://schemas.openxmlformats.org/drawingml/2006/main" noGrp="1"/>
          </p:cNvSpPr>
          <p:nvPr/>
        </p:nvSpPr>
        <p:spPr>
          <a:xfrm xmlns:a="http://schemas.openxmlformats.org/drawingml/2006/main">
            <a:off x="723900" y="1600200"/>
            <a:ext cx="700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7200" b="1">
                <a:solidFill>
                  <a:srgbClr val="F5F8FA"/>
                </a:solidFill>
                <a:latin typeface="Century Gothic"/>
                <a:ea typeface="Century Gothic"/>
                <a:cs typeface="Century Gothic"/>
              </a:defRPr>
            </a:pPr>
            <a:r>
              <a:rPr sz="7200" b="1">
                <a:solidFill>
                  <a:srgbClr val="F5F8FA"/>
                </a:solidFill>
                <a:latin typeface="Century Gothic"/>
                <a:ea typeface="Century Gothic"/>
                <a:cs typeface="Century Gothic"/>
              </a:rPr>
              <a:t>CarMind</a:t>
            </a:r>
          </a:p>
        </p:txBody>
      </p:sp>
      <p:sp>
        <p:nvSpPr>
          <p:cNvPr id="3" name="">
            <a:extLst xmlns:a="http://schemas.openxmlformats.org/drawingml/2006/main">
              <a:ext uri="{FF2B5EF4-FFF2-40B4-BE49-F238E27FC236}">
                <a16:creationId xmlns:a16="http://schemas.microsoft.com/office/drawing/2014/main" id="{4C98B920-ABF1-43FB-835A-BDA4A1CB5A1A}"/>
              </a:ext>
            </a:extLst>
          </p:cNvPr>
          <p:cNvSpPr>
            <a:spLocks xmlns:a="http://schemas.openxmlformats.org/drawingml/2006/main" noGrp="1"/>
          </p:cNvSpPr>
          <p:nvPr/>
        </p:nvSpPr>
        <p:spPr>
          <a:xfrm xmlns:a="http://schemas.openxmlformats.org/drawingml/2006/main">
            <a:off x="762000" y="2990850"/>
            <a:ext cx="700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850" b="0">
                <a:solidFill>
                  <a:srgbClr val="90D8C7"/>
                </a:solidFill>
                <a:latin typeface="Century Gothic"/>
                <a:ea typeface="Century Gothic"/>
                <a:cs typeface="Century Gothic"/>
              </a:defRPr>
            </a:pPr>
            <a:r>
              <a:rPr sz="2850" b="0">
                <a:solidFill>
                  <a:srgbClr val="90D8C7"/>
                </a:solidFill>
                <a:latin typeface="Century Gothic"/>
                <a:ea typeface="Century Gothic"/>
                <a:cs typeface="Century Gothic"/>
              </a:rPr>
              <a:t>Login and Authentication</a:t>
            </a:r>
          </a:p>
        </p:txBody>
      </p:sp>
      <p:sp>
        <p:nvSpPr>
          <p:cNvPr id="4" name="">
            <a:extLst xmlns:a="http://schemas.openxmlformats.org/drawingml/2006/main">
              <a:ext uri="{FF2B5EF4-FFF2-40B4-BE49-F238E27FC236}">
                <a16:creationId xmlns:a16="http://schemas.microsoft.com/office/drawing/2014/main" id="{263F660B-3708-4C0E-8A77-0CBCCEE34EE8}"/>
              </a:ext>
            </a:extLst>
          </p:cNvPr>
          <p:cNvSpPr>
            <a:spLocks xmlns:a="http://schemas.openxmlformats.org/drawingml/2006/main" noGrp="1"/>
          </p:cNvSpPr>
          <p:nvPr/>
        </p:nvSpPr>
        <p:spPr>
          <a:xfrm xmlns:a="http://schemas.openxmlformats.org/drawingml/2006/main">
            <a:off x="762000" y="4076700"/>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250" b="1">
                <a:solidFill>
                  <a:srgbClr val="F5F8FA"/>
                </a:solidFill>
                <a:latin typeface="Century Gothic"/>
                <a:ea typeface="Century Gothic"/>
                <a:cs typeface="Century Gothic"/>
              </a:defRPr>
            </a:pPr>
            <a:r>
              <a:rPr sz="2250" b="1">
                <a:solidFill>
                  <a:srgbClr val="F5F8FA"/>
                </a:solidFill>
                <a:latin typeface="Century Gothic"/>
                <a:ea typeface="Century Gothic"/>
                <a:cs typeface="Century Gothic"/>
              </a:rPr>
              <a:t>Sprint 1</a:t>
            </a:r>
          </a:p>
        </p:txBody>
      </p:sp>
      <p:sp>
        <p:nvSpPr>
          <p:cNvPr id="5" name="">
            <a:extLst xmlns:a="http://schemas.openxmlformats.org/drawingml/2006/main">
              <a:ext uri="{FF2B5EF4-FFF2-40B4-BE49-F238E27FC236}">
                <a16:creationId xmlns:a16="http://schemas.microsoft.com/office/drawing/2014/main" id="{E27C6B52-3A59-48A3-B7FA-6DC8841CC9D3}"/>
              </a:ext>
            </a:extLst>
          </p:cNvPr>
          <p:cNvSpPr>
            <a:spLocks xmlns:a="http://schemas.openxmlformats.org/drawingml/2006/main" noGrp="1"/>
          </p:cNvSpPr>
          <p:nvPr/>
        </p:nvSpPr>
        <p:spPr>
          <a:xfrm xmlns:a="http://schemas.openxmlformats.org/drawingml/2006/main">
            <a:off x="762000" y="5372100"/>
            <a:ext cx="657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800" b="0">
                <a:solidFill>
                  <a:srgbClr val="A9BBB8"/>
                </a:solidFill>
                <a:latin typeface="Century Gothic"/>
                <a:ea typeface="Century Gothic"/>
                <a:cs typeface="Century Gothic"/>
              </a:defRPr>
            </a:pPr>
            <a:r>
              <a:rPr sz="1800" b="0">
                <a:solidFill>
                  <a:srgbClr val="A9BBB8"/>
                </a:solidFill>
                <a:latin typeface="Century Gothic"/>
                <a:ea typeface="Century Gothic"/>
                <a:cs typeface="Century Gothic"/>
              </a:rPr>
              <a:t>Abdullah Misar</a:t>
            </a:r>
          </a:p>
          <a:p xmlns:a="http://schemas.openxmlformats.org/drawingml/2006/main">
            <a:pPr algn="l">
              <a:defRPr sz="1800" b="0">
                <a:solidFill>
                  <a:srgbClr val="A9BBB8"/>
                </a:solidFill>
                <a:latin typeface="Century Gothic"/>
                <a:ea typeface="Century Gothic"/>
                <a:cs typeface="Century Gothic"/>
              </a:defRPr>
            </a:pPr>
            <a:r>
              <a:rPr sz="1800" b="0">
                <a:solidFill>
                  <a:srgbClr val="A9BBB8"/>
                </a:solidFill>
                <a:latin typeface="Century Gothic"/>
                <a:ea typeface="Century Gothic"/>
                <a:cs typeface="Century Gothic"/>
              </a:rPr>
              <a:t>CCSW431 Mobile Programming</a:t>
            </a:r>
          </a:p>
        </p:txBody>
      </p:sp>
    </p:spTree>
    <p:extLst>
      <p:ext uri="{BB962C8B-B14F-4D97-AF65-F5344CB8AC3E}">
        <p14:creationId xmlns:p14="http://schemas.microsoft.com/office/powerpoint/2010/main" val="930994391"/>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2440D0-3848-4CCF-A4FA-F4576271051B}"/>
              </a:ext>
            </a:extLst>
          </p:cNvPr>
          <p:cNvSpPr>
            <a:spLocks xmlns:a="http://schemas.openxmlformats.org/drawingml/2006/main" noGrp="1"/>
          </p:cNvSpPr>
          <p:nvPr/>
        </p:nvSpPr>
        <p:spPr>
          <a:xfrm xmlns:a="http://schemas.openxmlformats.org/drawingml/2006/main">
            <a:off x="723900" y="571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3750" b="1">
                <a:solidFill>
                  <a:srgbClr val="0B1E2B"/>
                </a:solidFill>
                <a:latin typeface="Century Gothic"/>
                <a:ea typeface="Century Gothic"/>
                <a:cs typeface="Century Gothic"/>
              </a:defRPr>
            </a:pPr>
            <a:r>
              <a:rPr sz="3750" b="1">
                <a:solidFill>
                  <a:srgbClr val="0B1E2B"/>
                </a:solidFill>
                <a:latin typeface="Century Gothic"/>
                <a:ea typeface="Century Gothic"/>
                <a:cs typeface="Century Gothic"/>
              </a:rPr>
              <a:t>The account entry point</a:t>
            </a:r>
          </a:p>
        </p:txBody>
      </p:sp>
      <p:sp>
        <p:nvSpPr>
          <p:cNvPr id="2" name="">
            <a:extLst xmlns:a="http://schemas.openxmlformats.org/drawingml/2006/main">
              <a:ext uri="{FF2B5EF4-FFF2-40B4-BE49-F238E27FC236}">
                <a16:creationId xmlns:a16="http://schemas.microsoft.com/office/drawing/2014/main" id="{C3DE803D-63C0-4CCA-9CCD-48B150D0488F}"/>
              </a:ext>
            </a:extLst>
          </p:cNvPr>
          <p:cNvSpPr>
            <a:spLocks xmlns:a="http://schemas.openxmlformats.org/drawingml/2006/main" noGrp="1"/>
          </p:cNvSpPr>
          <p:nvPr/>
        </p:nvSpPr>
        <p:spPr>
          <a:xfrm xmlns:a="http://schemas.openxmlformats.org/drawingml/2006/main">
            <a:off x="742950" y="19431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100" b="1">
                <a:solidFill>
                  <a:srgbClr val="116D67"/>
                </a:solidFill>
                <a:latin typeface="Century Gothic"/>
                <a:ea typeface="Century Gothic"/>
                <a:cs typeface="Century Gothic"/>
              </a:defRPr>
            </a:pPr>
            <a:r>
              <a:rPr sz="2100" b="1">
                <a:solidFill>
                  <a:srgbClr val="116D67"/>
                </a:solidFill>
                <a:latin typeface="Century Gothic"/>
                <a:ea typeface="Century Gothic"/>
                <a:cs typeface="Century Gothic"/>
              </a:rPr>
              <a:t>Story 002</a:t>
            </a:r>
          </a:p>
        </p:txBody>
      </p:sp>
      <p:sp>
        <p:nvSpPr>
          <p:cNvPr id="3" name="">
            <a:extLst xmlns:a="http://schemas.openxmlformats.org/drawingml/2006/main">
              <a:ext uri="{FF2B5EF4-FFF2-40B4-BE49-F238E27FC236}">
                <a16:creationId xmlns:a16="http://schemas.microsoft.com/office/drawing/2014/main" id="{BC0306CC-C0E0-4453-9C29-5E3857D63568}"/>
              </a:ext>
            </a:extLst>
          </p:cNvPr>
          <p:cNvSpPr>
            <a:spLocks xmlns:a="http://schemas.openxmlformats.org/drawingml/2006/main" noGrp="1"/>
          </p:cNvSpPr>
          <p:nvPr/>
        </p:nvSpPr>
        <p:spPr>
          <a:xfrm xmlns:a="http://schemas.openxmlformats.org/drawingml/2006/main">
            <a:off x="723900" y="2657475"/>
            <a:ext cx="666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3300" b="1">
                <a:solidFill>
                  <a:srgbClr val="173A53"/>
                </a:solidFill>
                <a:latin typeface="Century Gothic"/>
                <a:ea typeface="Century Gothic"/>
                <a:cs typeface="Century Gothic"/>
              </a:defRPr>
            </a:pPr>
            <a:r>
              <a:rPr sz="3300" b="1">
                <a:solidFill>
                  <a:srgbClr val="173A53"/>
                </a:solidFill>
                <a:latin typeface="Century Gothic"/>
                <a:ea typeface="Century Gothic"/>
                <a:cs typeface="Century Gothic"/>
              </a:rPr>
              <a:t>A registered user signs in</a:t>
            </a:r>
          </a:p>
          <a:p xmlns:a="http://schemas.openxmlformats.org/drawingml/2006/main">
            <a:pPr algn="l">
              <a:defRPr sz="3300" b="1">
                <a:solidFill>
                  <a:srgbClr val="173A53"/>
                </a:solidFill>
                <a:latin typeface="Century Gothic"/>
                <a:ea typeface="Century Gothic"/>
                <a:cs typeface="Century Gothic"/>
              </a:defRPr>
            </a:pPr>
            <a:r>
              <a:rPr sz="3300" b="1">
                <a:solidFill>
                  <a:srgbClr val="173A53"/>
                </a:solidFill>
                <a:latin typeface="Century Gothic"/>
                <a:ea typeface="Century Gothic"/>
                <a:cs typeface="Century Gothic"/>
              </a:rPr>
              <a:t>to their CarMind account.</a:t>
            </a:r>
          </a:p>
        </p:txBody>
      </p:sp>
      <p:sp>
        <p:nvSpPr>
          <p:cNvPr id="4" name="">
            <a:extLst xmlns:a="http://schemas.openxmlformats.org/drawingml/2006/main">
              <a:ext uri="{FF2B5EF4-FFF2-40B4-BE49-F238E27FC236}">
                <a16:creationId xmlns:a16="http://schemas.microsoft.com/office/drawing/2014/main" id="{6BC81284-1A1F-458B-99FF-77AAA002360C}"/>
              </a:ext>
            </a:extLst>
          </p:cNvPr>
          <p:cNvSpPr>
            <a:spLocks xmlns:a="http://schemas.openxmlformats.org/drawingml/2006/main" noGrp="1"/>
          </p:cNvSpPr>
          <p:nvPr/>
        </p:nvSpPr>
        <p:spPr>
          <a:xfrm xmlns:a="http://schemas.openxmlformats.org/drawingml/2006/main">
            <a:off x="742950" y="49434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025" b="0">
                <a:solidFill>
                  <a:srgbClr val="526779"/>
                </a:solidFill>
                <a:latin typeface="Century Gothic"/>
                <a:ea typeface="Century Gothic"/>
                <a:cs typeface="Century Gothic"/>
              </a:defRPr>
            </a:pPr>
            <a:r>
              <a:rPr sz="2025" b="0">
                <a:solidFill>
                  <a:srgbClr val="526779"/>
                </a:solidFill>
                <a:latin typeface="Century Gothic"/>
                <a:ea typeface="Century Gothic"/>
                <a:cs typeface="Century Gothic"/>
              </a:rPr>
              <a:t>CarMind brings vehicle information and</a:t>
            </a:r>
          </a:p>
          <a:p xmlns:a="http://schemas.openxmlformats.org/drawingml/2006/main">
            <a:pPr algn="l">
              <a:defRPr sz="2025" b="0">
                <a:solidFill>
                  <a:srgbClr val="526779"/>
                </a:solidFill>
                <a:latin typeface="Century Gothic"/>
                <a:ea typeface="Century Gothic"/>
                <a:cs typeface="Century Gothic"/>
              </a:defRPr>
            </a:pPr>
            <a:r>
              <a:rPr sz="2025" b="0">
                <a:solidFill>
                  <a:srgbClr val="526779"/>
                </a:solidFill>
                <a:latin typeface="Century Gothic"/>
                <a:ea typeface="Century Gothic"/>
                <a:cs typeface="Century Gothic"/>
              </a:rPr>
              <a:t>maintenance into one mobile app concept.</a:t>
            </a:r>
          </a:p>
        </p:txBody>
      </p:sp>
      <p:sp>
        <p:nvSpPr>
          <p:cNvPr id="5" name="">
            <a:extLst xmlns:a="http://schemas.openxmlformats.org/drawingml/2006/main">
              <a:ext uri="{FF2B5EF4-FFF2-40B4-BE49-F238E27FC236}">
                <a16:creationId xmlns:a16="http://schemas.microsoft.com/office/drawing/2014/main" id="{F6AAF0D7-0A8D-4858-89DE-241829A74521}"/>
              </a:ext>
            </a:extLst>
          </p:cNvPr>
          <p:cNvSpPr>
            <a:spLocks xmlns:a="http://schemas.openxmlformats.org/drawingml/2006/main" noGrp="1"/>
          </p:cNvSpPr>
          <p:nvPr/>
        </p:nvSpPr>
        <p:spPr>
          <a:xfrm xmlns:a="http://schemas.openxmlformats.org/drawingml/2006/main">
            <a:off x="8515350" y="21526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3000" b="1">
                <a:solidFill>
                  <a:srgbClr val="116D67"/>
                </a:solidFill>
                <a:latin typeface="Century Gothic"/>
                <a:ea typeface="Century Gothic"/>
                <a:cs typeface="Century Gothic"/>
              </a:defRPr>
            </a:pPr>
            <a:r>
              <a:rPr sz="3000" b="1">
                <a:solidFill>
                  <a:srgbClr val="116D67"/>
                </a:solidFill>
                <a:latin typeface="Century Gothic"/>
                <a:ea typeface="Century Gothic"/>
                <a:cs typeface="Century Gothic"/>
              </a:rPr>
              <a:t>Android</a:t>
            </a:r>
          </a:p>
        </p:txBody>
      </p:sp>
      <p:sp>
        <p:nvSpPr>
          <p:cNvPr id="6" name="">
            <a:extLst xmlns:a="http://schemas.openxmlformats.org/drawingml/2006/main">
              <a:ext uri="{FF2B5EF4-FFF2-40B4-BE49-F238E27FC236}">
                <a16:creationId xmlns:a16="http://schemas.microsoft.com/office/drawing/2014/main" id="{F08DFEE8-9D15-4310-8665-9F4B68A344FE}"/>
              </a:ext>
            </a:extLst>
          </p:cNvPr>
          <p:cNvSpPr>
            <a:spLocks xmlns:a="http://schemas.openxmlformats.org/drawingml/2006/main" noGrp="1"/>
          </p:cNvSpPr>
          <p:nvPr/>
        </p:nvSpPr>
        <p:spPr>
          <a:xfrm xmlns:a="http://schemas.openxmlformats.org/drawingml/2006/main">
            <a:off x="8515350" y="295275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250" b="0">
                <a:solidFill>
                  <a:srgbClr val="0B1E2B"/>
                </a:solidFill>
                <a:latin typeface="Century Gothic"/>
                <a:ea typeface="Century Gothic"/>
                <a:cs typeface="Century Gothic"/>
              </a:defRPr>
            </a:pPr>
            <a:r>
              <a:rPr sz="2250" b="0">
                <a:solidFill>
                  <a:srgbClr val="0B1E2B"/>
                </a:solidFill>
                <a:latin typeface="Century Gothic"/>
                <a:ea typeface="Century Gothic"/>
                <a:cs typeface="Century Gothic"/>
              </a:rPr>
              <a:t>Java and XML</a:t>
            </a:r>
          </a:p>
        </p:txBody>
      </p:sp>
      <p:sp>
        <p:nvSpPr>
          <p:cNvPr id="7" name="">
            <a:extLst xmlns:a="http://schemas.openxmlformats.org/drawingml/2006/main">
              <a:ext uri="{FF2B5EF4-FFF2-40B4-BE49-F238E27FC236}">
                <a16:creationId xmlns:a16="http://schemas.microsoft.com/office/drawing/2014/main" id="{A30DF6ED-A650-48B4-B2D0-3F7EDA3F2B12}"/>
              </a:ext>
            </a:extLst>
          </p:cNvPr>
          <p:cNvSpPr>
            <a:spLocks xmlns:a="http://schemas.openxmlformats.org/drawingml/2006/main" noGrp="1"/>
          </p:cNvSpPr>
          <p:nvPr/>
        </p:nvSpPr>
        <p:spPr>
          <a:xfrm xmlns:a="http://schemas.openxmlformats.org/drawingml/2006/main">
            <a:off x="8515350" y="43053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400" b="1">
                <a:solidFill>
                  <a:srgbClr val="116D67"/>
                </a:solidFill>
                <a:latin typeface="Century Gothic"/>
                <a:ea typeface="Century Gothic"/>
                <a:cs typeface="Century Gothic"/>
              </a:defRPr>
            </a:pPr>
            <a:r>
              <a:rPr sz="2400" b="1">
                <a:solidFill>
                  <a:srgbClr val="116D67"/>
                </a:solidFill>
                <a:latin typeface="Century Gothic"/>
                <a:ea typeface="Century Gothic"/>
                <a:cs typeface="Century Gothic"/>
              </a:rPr>
              <a:t>Firebase Auth</a:t>
            </a:r>
          </a:p>
        </p:txBody>
      </p:sp>
      <p:sp>
        <p:nvSpPr>
          <p:cNvPr id="8" name="">
            <a:extLst xmlns:a="http://schemas.openxmlformats.org/drawingml/2006/main">
              <a:ext uri="{FF2B5EF4-FFF2-40B4-BE49-F238E27FC236}">
                <a16:creationId xmlns:a16="http://schemas.microsoft.com/office/drawing/2014/main" id="{F29A63D9-2010-4977-9FB1-255960BFE6AD}"/>
              </a:ext>
            </a:extLst>
          </p:cNvPr>
          <p:cNvSpPr>
            <a:spLocks xmlns:a="http://schemas.openxmlformats.org/drawingml/2006/main" noGrp="1"/>
          </p:cNvSpPr>
          <p:nvPr/>
        </p:nvSpPr>
        <p:spPr>
          <a:xfrm xmlns:a="http://schemas.openxmlformats.org/drawingml/2006/main">
            <a:off x="8515350" y="5124450"/>
            <a:ext cx="304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950" b="0">
                <a:solidFill>
                  <a:srgbClr val="526779"/>
                </a:solidFill>
                <a:latin typeface="Century Gothic"/>
                <a:ea typeface="Century Gothic"/>
                <a:cs typeface="Century Gothic"/>
              </a:defRPr>
            </a:pPr>
            <a:r>
              <a:rPr sz="1950" b="0">
                <a:solidFill>
                  <a:srgbClr val="526779"/>
                </a:solidFill>
                <a:latin typeface="Century Gothic"/>
                <a:ea typeface="Century Gothic"/>
                <a:cs typeface="Century Gothic"/>
              </a:rPr>
              <a:t>Email and password</a:t>
            </a:r>
          </a:p>
        </p:txBody>
      </p:sp>
    </p:spTree>
    <p:extLst>
      <p:ext uri="{BB962C8B-B14F-4D97-AF65-F5344CB8AC3E}">
        <p14:creationId xmlns:p14="http://schemas.microsoft.com/office/powerpoint/2010/main" val="307947276"/>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8660BA-10A9-4639-82BD-D46554398838}"/>
              </a:ext>
            </a:extLst>
          </p:cNvPr>
          <p:cNvSpPr>
            <a:spLocks xmlns:a="http://schemas.openxmlformats.org/drawingml/2006/main" noGrp="1"/>
          </p:cNvSpPr>
          <p:nvPr/>
        </p:nvSpPr>
        <p:spPr>
          <a:xfrm xmlns:a="http://schemas.openxmlformats.org/drawingml/2006/main">
            <a:off x="723900" y="742950"/>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4350" b="1">
                <a:solidFill>
                  <a:srgbClr val="0B1E2B"/>
                </a:solidFill>
                <a:latin typeface="Century Gothic"/>
                <a:ea typeface="Century Gothic"/>
                <a:cs typeface="Century Gothic"/>
              </a:defRPr>
            </a:pPr>
            <a:r>
              <a:rPr sz="4350" b="1">
                <a:solidFill>
                  <a:srgbClr val="0B1E2B"/>
                </a:solidFill>
                <a:latin typeface="Century Gothic"/>
                <a:ea typeface="Century Gothic"/>
                <a:cs typeface="Century Gothic"/>
              </a:rPr>
              <a:t>Sign in</a:t>
            </a:r>
          </a:p>
        </p:txBody>
      </p:sp>
      <p:sp>
        <p:nvSpPr>
          <p:cNvPr id="2" name="">
            <a:extLst xmlns:a="http://schemas.openxmlformats.org/drawingml/2006/main">
              <a:ext uri="{FF2B5EF4-FFF2-40B4-BE49-F238E27FC236}">
                <a16:creationId xmlns:a16="http://schemas.microsoft.com/office/drawing/2014/main" id="{1BF416C8-25E7-4F68-B108-F26C857900DD}"/>
              </a:ext>
            </a:extLst>
          </p:cNvPr>
          <p:cNvSpPr>
            <a:spLocks xmlns:a="http://schemas.openxmlformats.org/drawingml/2006/main" noGrp="1"/>
          </p:cNvSpPr>
          <p:nvPr/>
        </p:nvSpPr>
        <p:spPr>
          <a:xfrm xmlns:a="http://schemas.openxmlformats.org/drawingml/2006/main">
            <a:off x="742950" y="240982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550" b="1">
                <a:solidFill>
                  <a:srgbClr val="116D67"/>
                </a:solidFill>
                <a:latin typeface="Century Gothic"/>
                <a:ea typeface="Century Gothic"/>
                <a:cs typeface="Century Gothic"/>
              </a:defRPr>
            </a:pPr>
            <a:r>
              <a:rPr sz="2550" b="1">
                <a:solidFill>
                  <a:srgbClr val="116D67"/>
                </a:solidFill>
                <a:latin typeface="Century Gothic"/>
                <a:ea typeface="Century Gothic"/>
                <a:cs typeface="Century Gothic"/>
              </a:rPr>
              <a:t>Email and password</a:t>
            </a:r>
          </a:p>
        </p:txBody>
      </p:sp>
      <p:sp>
        <p:nvSpPr>
          <p:cNvPr id="3" name="">
            <a:extLst xmlns:a="http://schemas.openxmlformats.org/drawingml/2006/main">
              <a:ext uri="{FF2B5EF4-FFF2-40B4-BE49-F238E27FC236}">
                <a16:creationId xmlns:a16="http://schemas.microsoft.com/office/drawing/2014/main" id="{BD79DAB6-BD40-4AB2-8A51-FA9550EF2D67}"/>
              </a:ext>
            </a:extLst>
          </p:cNvPr>
          <p:cNvSpPr>
            <a:spLocks xmlns:a="http://schemas.openxmlformats.org/drawingml/2006/main" noGrp="1"/>
          </p:cNvSpPr>
          <p:nvPr/>
        </p:nvSpPr>
        <p:spPr>
          <a:xfrm xmlns:a="http://schemas.openxmlformats.org/drawingml/2006/main">
            <a:off x="742950" y="3209925"/>
            <a:ext cx="5000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175" b="0">
                <a:solidFill>
                  <a:srgbClr val="526779"/>
                </a:solidFill>
                <a:latin typeface="Century Gothic"/>
                <a:ea typeface="Century Gothic"/>
                <a:cs typeface="Century Gothic"/>
              </a:defRPr>
            </a:pPr>
            <a:r>
              <a:rPr sz="2175" b="0">
                <a:solidFill>
                  <a:srgbClr val="526779"/>
                </a:solidFill>
                <a:latin typeface="Century Gothic"/>
                <a:ea typeface="Century Gothic"/>
                <a:cs typeface="Century Gothic"/>
              </a:rPr>
              <a:t>The password starts hidden.</a:t>
            </a:r>
          </a:p>
          <a:p xmlns:a="http://schemas.openxmlformats.org/drawingml/2006/main">
            <a:pPr algn="l">
              <a:defRPr sz="2175" b="0">
                <a:solidFill>
                  <a:srgbClr val="526779"/>
                </a:solidFill>
                <a:latin typeface="Century Gothic"/>
                <a:ea typeface="Century Gothic"/>
                <a:cs typeface="Century Gothic"/>
              </a:defRPr>
            </a:pPr>
            <a:r>
              <a:rPr sz="2175" b="0">
                <a:solidFill>
                  <a:srgbClr val="526779"/>
                </a:solidFill>
                <a:latin typeface="Century Gothic"/>
                <a:ea typeface="Century Gothic"/>
                <a:cs typeface="Century Gothic"/>
              </a:rPr>
              <a:t>The user can choose to reveal it.</a:t>
            </a:r>
          </a:p>
        </p:txBody>
      </p:sp>
      <p:sp>
        <p:nvSpPr>
          <p:cNvPr id="4" name="">
            <a:extLst xmlns:a="http://schemas.openxmlformats.org/drawingml/2006/main">
              <a:ext uri="{FF2B5EF4-FFF2-40B4-BE49-F238E27FC236}">
                <a16:creationId xmlns:a16="http://schemas.microsoft.com/office/drawing/2014/main" id="{4D60F96D-6BA3-4C22-92DA-39AD2AEBD9C7}"/>
              </a:ext>
            </a:extLst>
          </p:cNvPr>
          <p:cNvSpPr>
            <a:spLocks xmlns:a="http://schemas.openxmlformats.org/drawingml/2006/main" noGrp="1"/>
          </p:cNvSpPr>
          <p:nvPr/>
        </p:nvSpPr>
        <p:spPr>
          <a:xfrm xmlns:a="http://schemas.openxmlformats.org/drawingml/2006/main">
            <a:off x="742950" y="4819650"/>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175" b="0">
                <a:solidFill>
                  <a:srgbClr val="526779"/>
                </a:solidFill>
                <a:latin typeface="Century Gothic"/>
                <a:ea typeface="Century Gothic"/>
                <a:cs typeface="Century Gothic"/>
              </a:defRPr>
            </a:pPr>
            <a:r>
              <a:rPr sz="2175" b="0">
                <a:solidFill>
                  <a:srgbClr val="526779"/>
                </a:solidFill>
                <a:latin typeface="Century Gothic"/>
                <a:ea typeface="Century Gothic"/>
                <a:cs typeface="Century Gothic"/>
              </a:rPr>
              <a:t>The form disables input while</a:t>
            </a:r>
          </a:p>
          <a:p xmlns:a="http://schemas.openxmlformats.org/drawingml/2006/main">
            <a:pPr algn="l">
              <a:defRPr sz="2175" b="0">
                <a:solidFill>
                  <a:srgbClr val="526779"/>
                </a:solidFill>
                <a:latin typeface="Century Gothic"/>
                <a:ea typeface="Century Gothic"/>
                <a:cs typeface="Century Gothic"/>
              </a:defRPr>
            </a:pPr>
            <a:r>
              <a:rPr sz="2175" b="0">
                <a:solidFill>
                  <a:srgbClr val="526779"/>
                </a:solidFill>
                <a:latin typeface="Century Gothic"/>
                <a:ea typeface="Century Gothic"/>
                <a:cs typeface="Century Gothic"/>
              </a:rPr>
              <a:t>Firebase checks the credentials.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cffeba105bd4f0e"/>
          <a:srcRect xmlns:a="http://schemas.openxmlformats.org/drawingml/2006/main" l="0" t="12440" r="0" b="12440"/>
          <a:stretch xmlns:a="http://schemas.openxmlformats.org/drawingml/2006/main">
            <a:fillRect l="0" t="0" r="0" b="0"/>
          </a:stretch>
        </p:blipFill>
        <p:spPr>
          <a:xfrm xmlns:a="http://schemas.openxmlformats.org/drawingml/2006/main">
            <a:off x="6800850" y="428625"/>
            <a:ext cx="4457700" cy="5953125"/>
          </a:xfrm>
          <a:prstGeom xmlns:a="http://schemas.openxmlformats.org/drawingml/2006/main" prst="rect">
            <a:avLst/>
          </a:prstGeom>
        </p:spPr>
      </p:pic>
    </p:spTree>
    <p:extLst>
      <p:ext uri="{BB962C8B-B14F-4D97-AF65-F5344CB8AC3E}">
        <p14:creationId xmlns:p14="http://schemas.microsoft.com/office/powerpoint/2010/main" val="199569245"/>
      </p:ext>
    </p:extLst>
  </p:cSld>
</p:sld>
</file>

<file path=ppt/slides/slide4.xml><?xml version="1.0" encoding="utf-8"?>
<p:sld xmlns:p="http://schemas.openxmlformats.org/presentationml/2006/main">
  <p:cSld>
    <p:bg>
      <p:bgPr>
        <a:solidFill xmlns:a="http://schemas.openxmlformats.org/drawingml/2006/main">
          <a:srgbClr val="0B1E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07E084-3FFF-4269-B6F3-8FA23AF183A4}"/>
              </a:ext>
            </a:extLst>
          </p:cNvPr>
          <p:cNvSpPr>
            <a:spLocks xmlns:a="http://schemas.openxmlformats.org/drawingml/2006/main" noGrp="1"/>
          </p:cNvSpPr>
          <p:nvPr/>
        </p:nvSpPr>
        <p:spPr>
          <a:xfrm xmlns:a="http://schemas.openxmlformats.org/drawingml/2006/main">
            <a:off x="723900" y="723900"/>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4200" b="1">
                <a:solidFill>
                  <a:srgbClr val="F5F8FA"/>
                </a:solidFill>
                <a:latin typeface="Century Gothic"/>
                <a:ea typeface="Century Gothic"/>
                <a:cs typeface="Century Gothic"/>
              </a:defRPr>
            </a:pPr>
            <a:r>
              <a:rPr sz="4200" b="1">
                <a:solidFill>
                  <a:srgbClr val="F5F8FA"/>
                </a:solidFill>
                <a:latin typeface="Century Gothic"/>
                <a:ea typeface="Century Gothic"/>
                <a:cs typeface="Century Gothic"/>
              </a:rPr>
              <a:t>Input checks</a:t>
            </a:r>
          </a:p>
        </p:txBody>
      </p:sp>
      <p:sp>
        <p:nvSpPr>
          <p:cNvPr id="2" name="">
            <a:extLst xmlns:a="http://schemas.openxmlformats.org/drawingml/2006/main">
              <a:ext uri="{FF2B5EF4-FFF2-40B4-BE49-F238E27FC236}">
                <a16:creationId xmlns:a16="http://schemas.microsoft.com/office/drawing/2014/main" id="{2184D257-9E63-4CC4-87A5-56400BE1EE02}"/>
              </a:ext>
            </a:extLst>
          </p:cNvPr>
          <p:cNvSpPr>
            <a:spLocks xmlns:a="http://schemas.openxmlformats.org/drawingml/2006/main" noGrp="1"/>
          </p:cNvSpPr>
          <p:nvPr/>
        </p:nvSpPr>
        <p:spPr>
          <a:xfrm xmlns:a="http://schemas.openxmlformats.org/drawingml/2006/main">
            <a:off x="742950" y="237172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400" b="1">
                <a:solidFill>
                  <a:srgbClr val="90D8C7"/>
                </a:solidFill>
                <a:latin typeface="Century Gothic"/>
                <a:ea typeface="Century Gothic"/>
                <a:cs typeface="Century Gothic"/>
              </a:defRPr>
            </a:pPr>
            <a:r>
              <a:rPr sz="2400" b="1">
                <a:solidFill>
                  <a:srgbClr val="90D8C7"/>
                </a:solidFill>
                <a:latin typeface="Century Gothic"/>
                <a:ea typeface="Century Gothic"/>
                <a:cs typeface="Century Gothic"/>
              </a:rPr>
              <a:t>Before Firebase</a:t>
            </a:r>
          </a:p>
        </p:txBody>
      </p:sp>
      <p:sp>
        <p:nvSpPr>
          <p:cNvPr id="3" name="">
            <a:extLst xmlns:a="http://schemas.openxmlformats.org/drawingml/2006/main">
              <a:ext uri="{FF2B5EF4-FFF2-40B4-BE49-F238E27FC236}">
                <a16:creationId xmlns:a16="http://schemas.microsoft.com/office/drawing/2014/main" id="{D30EC882-F38B-45A4-A9B8-C675823F1A9A}"/>
              </a:ext>
            </a:extLst>
          </p:cNvPr>
          <p:cNvSpPr>
            <a:spLocks xmlns:a="http://schemas.openxmlformats.org/drawingml/2006/main" noGrp="1"/>
          </p:cNvSpPr>
          <p:nvPr/>
        </p:nvSpPr>
        <p:spPr>
          <a:xfrm xmlns:a="http://schemas.openxmlformats.org/drawingml/2006/main">
            <a:off x="742950" y="3171825"/>
            <a:ext cx="4619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550" b="0">
                <a:solidFill>
                  <a:srgbClr val="F5F8FA"/>
                </a:solidFill>
                <a:latin typeface="Century Gothic"/>
                <a:ea typeface="Century Gothic"/>
                <a:cs typeface="Century Gothic"/>
              </a:defRPr>
            </a:pPr>
            <a:r>
              <a:rPr sz="2550" b="0">
                <a:solidFill>
                  <a:srgbClr val="F5F8FA"/>
                </a:solidFill>
                <a:latin typeface="Century Gothic"/>
                <a:ea typeface="Century Gothic"/>
                <a:cs typeface="Century Gothic"/>
              </a:rPr>
              <a:t>Required fields and</a:t>
            </a:r>
          </a:p>
          <a:p xmlns:a="http://schemas.openxmlformats.org/drawingml/2006/main">
            <a:pPr algn="l">
              <a:defRPr sz="2550" b="0">
                <a:solidFill>
                  <a:srgbClr val="F5F8FA"/>
                </a:solidFill>
                <a:latin typeface="Century Gothic"/>
                <a:ea typeface="Century Gothic"/>
                <a:cs typeface="Century Gothic"/>
              </a:defRPr>
            </a:pPr>
            <a:r>
              <a:rPr sz="2550" b="0">
                <a:solidFill>
                  <a:srgbClr val="F5F8FA"/>
                </a:solidFill>
                <a:latin typeface="Century Gothic"/>
                <a:ea typeface="Century Gothic"/>
                <a:cs typeface="Century Gothic"/>
              </a:rPr>
              <a:t>email format</a:t>
            </a:r>
          </a:p>
        </p:txBody>
      </p:sp>
      <p:sp>
        <p:nvSpPr>
          <p:cNvPr id="4" name="">
            <a:extLst xmlns:a="http://schemas.openxmlformats.org/drawingml/2006/main">
              <a:ext uri="{FF2B5EF4-FFF2-40B4-BE49-F238E27FC236}">
                <a16:creationId xmlns:a16="http://schemas.microsoft.com/office/drawing/2014/main" id="{E0090A24-FFD2-41E5-A3EC-58E9236B7847}"/>
              </a:ext>
            </a:extLst>
          </p:cNvPr>
          <p:cNvSpPr>
            <a:spLocks xmlns:a="http://schemas.openxmlformats.org/drawingml/2006/main" noGrp="1"/>
          </p:cNvSpPr>
          <p:nvPr/>
        </p:nvSpPr>
        <p:spPr>
          <a:xfrm xmlns:a="http://schemas.openxmlformats.org/drawingml/2006/main">
            <a:off x="742950" y="49053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875" b="0">
                <a:solidFill>
                  <a:srgbClr val="A9BBB8"/>
                </a:solidFill>
                <a:latin typeface="Century Gothic"/>
                <a:ea typeface="Century Gothic"/>
                <a:cs typeface="Century Gothic"/>
              </a:defRPr>
            </a:pPr>
            <a:r>
              <a:rPr sz="1875" b="0">
                <a:solidFill>
                  <a:srgbClr val="A9BBB8"/>
                </a:solidFill>
                <a:latin typeface="Century Gothic"/>
                <a:ea typeface="Century Gothic"/>
                <a:cs typeface="Century Gothic"/>
              </a:rPr>
              <a:t>Email whitespace is trimmed.</a:t>
            </a:r>
          </a:p>
          <a:p xmlns:a="http://schemas.openxmlformats.org/drawingml/2006/main">
            <a:pPr algn="l">
              <a:defRPr sz="1875" b="0">
                <a:solidFill>
                  <a:srgbClr val="A9BBB8"/>
                </a:solidFill>
                <a:latin typeface="Century Gothic"/>
                <a:ea typeface="Century Gothic"/>
                <a:cs typeface="Century Gothic"/>
              </a:defRPr>
            </a:pPr>
            <a:r>
              <a:rPr sz="1875" b="0">
                <a:solidFill>
                  <a:srgbClr val="A9BBB8"/>
                </a:solidFill>
                <a:latin typeface="Century Gothic"/>
                <a:ea typeface="Century Gothic"/>
                <a:cs typeface="Century Gothic"/>
              </a:rPr>
              <a:t>Password characters stay unchanged.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8cc7b7b760f4c03"/>
          <a:srcRect xmlns:a="http://schemas.openxmlformats.org/drawingml/2006/main" l="3500" t="40500" r="3500" b="10000"/>
          <a:stretch xmlns:a="http://schemas.openxmlformats.org/drawingml/2006/main">
            <a:fillRect l="0" t="0" r="0" b="0"/>
          </a:stretch>
        </p:blipFill>
        <p:spPr>
          <a:xfrm xmlns:a="http://schemas.openxmlformats.org/drawingml/2006/main">
            <a:off x="5810250" y="638175"/>
            <a:ext cx="5715000" cy="540792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4BD2A8-FAAD-43B9-80EE-43648A73F77F}"/>
              </a:ext>
            </a:extLst>
          </p:cNvPr>
          <p:cNvSpPr>
            <a:spLocks xmlns:a="http://schemas.openxmlformats.org/drawingml/2006/main" noGrp="1"/>
          </p:cNvSpPr>
          <p:nvPr/>
        </p:nvSpPr>
        <p:spPr>
          <a:xfrm xmlns:a="http://schemas.openxmlformats.org/drawingml/2006/main">
            <a:off x="6019800" y="6105525"/>
            <a:ext cx="541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725" b="0">
                <a:solidFill>
                  <a:srgbClr val="A9BBB8"/>
                </a:solidFill>
                <a:latin typeface="Century Gothic"/>
                <a:ea typeface="Century Gothic"/>
                <a:cs typeface="Century Gothic"/>
              </a:defRPr>
            </a:pPr>
            <a:r>
              <a:rPr sz="1725" b="0">
                <a:solidFill>
                  <a:srgbClr val="A9BBB8"/>
                </a:solidFill>
                <a:latin typeface="Century Gothic"/>
                <a:ea typeface="Century Gothic"/>
                <a:cs typeface="Century Gothic"/>
              </a:rPr>
              <a:t>Actual Android validation state</a:t>
            </a:r>
          </a:p>
        </p:txBody>
      </p:sp>
    </p:spTree>
    <p:extLst>
      <p:ext uri="{BB962C8B-B14F-4D97-AF65-F5344CB8AC3E}">
        <p14:creationId xmlns:p14="http://schemas.microsoft.com/office/powerpoint/2010/main" val="2111273415"/>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EF5902-F528-4C60-912A-C60B7EF9B95F}"/>
              </a:ext>
            </a:extLst>
          </p:cNvPr>
          <p:cNvSpPr>
            <a:spLocks xmlns:a="http://schemas.openxmlformats.org/drawingml/2006/main" noGrp="1"/>
          </p:cNvSpPr>
          <p:nvPr/>
        </p:nvSpPr>
        <p:spPr>
          <a:xfrm xmlns:a="http://schemas.openxmlformats.org/drawingml/2006/main">
            <a:off x="723900" y="76200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4050" b="1">
                <a:solidFill>
                  <a:srgbClr val="0B1E2B"/>
                </a:solidFill>
                <a:latin typeface="Century Gothic"/>
                <a:ea typeface="Century Gothic"/>
                <a:cs typeface="Century Gothic"/>
              </a:defRPr>
            </a:pPr>
            <a:r>
              <a:rPr sz="4050" b="1">
                <a:solidFill>
                  <a:srgbClr val="0B1E2B"/>
                </a:solidFill>
                <a:latin typeface="Century Gothic"/>
                <a:ea typeface="Century Gothic"/>
                <a:cs typeface="Century Gothic"/>
              </a:rPr>
              <a:t>Incorrect</a:t>
            </a:r>
          </a:p>
          <a:p xmlns:a="http://schemas.openxmlformats.org/drawingml/2006/main">
            <a:pPr algn="l">
              <a:defRPr sz="4050" b="1">
                <a:solidFill>
                  <a:srgbClr val="0B1E2B"/>
                </a:solidFill>
                <a:latin typeface="Century Gothic"/>
                <a:ea typeface="Century Gothic"/>
                <a:cs typeface="Century Gothic"/>
              </a:defRPr>
            </a:pPr>
            <a:r>
              <a:rPr sz="4050" b="1">
                <a:solidFill>
                  <a:srgbClr val="0B1E2B"/>
                </a:solidFill>
                <a:latin typeface="Century Gothic"/>
                <a:ea typeface="Century Gothic"/>
                <a:cs typeface="Century Gothic"/>
              </a:rPr>
              <a:t>credentials</a:t>
            </a:r>
          </a:p>
        </p:txBody>
      </p:sp>
      <p:sp>
        <p:nvSpPr>
          <p:cNvPr id="2" name="">
            <a:extLst xmlns:a="http://schemas.openxmlformats.org/drawingml/2006/main">
              <a:ext uri="{FF2B5EF4-FFF2-40B4-BE49-F238E27FC236}">
                <a16:creationId xmlns:a16="http://schemas.microsoft.com/office/drawing/2014/main" id="{5F0854FB-0CF0-4CC1-A106-4AA9FC600CA4}"/>
              </a:ext>
            </a:extLst>
          </p:cNvPr>
          <p:cNvSpPr>
            <a:spLocks xmlns:a="http://schemas.openxmlformats.org/drawingml/2006/main" noGrp="1"/>
          </p:cNvSpPr>
          <p:nvPr/>
        </p:nvSpPr>
        <p:spPr>
          <a:xfrm xmlns:a="http://schemas.openxmlformats.org/drawingml/2006/main">
            <a:off x="742950" y="3019425"/>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325" b="1">
                <a:solidFill>
                  <a:srgbClr val="116D67"/>
                </a:solidFill>
                <a:latin typeface="Century Gothic"/>
                <a:ea typeface="Century Gothic"/>
                <a:cs typeface="Century Gothic"/>
              </a:defRPr>
            </a:pPr>
            <a:r>
              <a:rPr sz="2325" b="1">
                <a:solidFill>
                  <a:srgbClr val="116D67"/>
                </a:solidFill>
                <a:latin typeface="Century Gothic"/>
                <a:ea typeface="Century Gothic"/>
                <a:cs typeface="Century Gothic"/>
              </a:rPr>
              <a:t>The user stays on Sign in</a:t>
            </a:r>
          </a:p>
          <a:p xmlns:a="http://schemas.openxmlformats.org/drawingml/2006/main">
            <a:pPr algn="l">
              <a:defRPr sz="2325" b="1">
                <a:solidFill>
                  <a:srgbClr val="116D67"/>
                </a:solidFill>
                <a:latin typeface="Century Gothic"/>
                <a:ea typeface="Century Gothic"/>
                <a:cs typeface="Century Gothic"/>
              </a:defRPr>
            </a:pPr>
            <a:r>
              <a:rPr sz="2325" b="1">
                <a:solidFill>
                  <a:srgbClr val="116D67"/>
                </a:solidFill>
                <a:latin typeface="Century Gothic"/>
                <a:ea typeface="Century Gothic"/>
                <a:cs typeface="Century Gothic"/>
              </a:rPr>
              <a:t>and can retry.</a:t>
            </a:r>
          </a:p>
        </p:txBody>
      </p:sp>
      <p:sp>
        <p:nvSpPr>
          <p:cNvPr id="3" name="">
            <a:extLst xmlns:a="http://schemas.openxmlformats.org/drawingml/2006/main">
              <a:ext uri="{FF2B5EF4-FFF2-40B4-BE49-F238E27FC236}">
                <a16:creationId xmlns:a16="http://schemas.microsoft.com/office/drawing/2014/main" id="{8D4FB1A2-7B84-4765-976A-1E28C6492109}"/>
              </a:ext>
            </a:extLst>
          </p:cNvPr>
          <p:cNvSpPr>
            <a:spLocks xmlns:a="http://schemas.openxmlformats.org/drawingml/2006/main" noGrp="1"/>
          </p:cNvSpPr>
          <p:nvPr/>
        </p:nvSpPr>
        <p:spPr>
          <a:xfrm xmlns:a="http://schemas.openxmlformats.org/drawingml/2006/main">
            <a:off x="742950" y="4857750"/>
            <a:ext cx="4238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025" b="0">
                <a:solidFill>
                  <a:srgbClr val="526779"/>
                </a:solidFill>
                <a:latin typeface="Century Gothic"/>
                <a:ea typeface="Century Gothic"/>
                <a:cs typeface="Century Gothic"/>
              </a:defRPr>
            </a:pPr>
            <a:r>
              <a:rPr sz="2025" b="0">
                <a:solidFill>
                  <a:srgbClr val="526779"/>
                </a:solidFill>
                <a:latin typeface="Century Gothic"/>
                <a:ea typeface="Century Gothic"/>
                <a:cs typeface="Century Gothic"/>
              </a:rPr>
              <a:t>The message does not identify</a:t>
            </a:r>
          </a:p>
          <a:p xmlns:a="http://schemas.openxmlformats.org/drawingml/2006/main">
            <a:pPr algn="l">
              <a:defRPr sz="2025" b="0">
                <a:solidFill>
                  <a:srgbClr val="526779"/>
                </a:solidFill>
                <a:latin typeface="Century Gothic"/>
                <a:ea typeface="Century Gothic"/>
                <a:cs typeface="Century Gothic"/>
              </a:defRPr>
            </a:pPr>
            <a:r>
              <a:rPr sz="2025" b="0">
                <a:solidFill>
                  <a:srgbClr val="526779"/>
                </a:solidFill>
                <a:latin typeface="Century Gothic"/>
                <a:ea typeface="Century Gothic"/>
                <a:cs typeface="Century Gothic"/>
              </a:rPr>
              <a:t>which credential failed.</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d780b6749d54979"/>
          <a:srcRect xmlns:a="http://schemas.openxmlformats.org/drawingml/2006/main" l="3500" t="40500" r="3500" b="10000"/>
          <a:stretch xmlns:a="http://schemas.openxmlformats.org/drawingml/2006/main">
            <a:fillRect l="0" t="0" r="0" b="0"/>
          </a:stretch>
        </p:blipFill>
        <p:spPr>
          <a:xfrm xmlns:a="http://schemas.openxmlformats.org/drawingml/2006/main">
            <a:off x="5810250" y="638175"/>
            <a:ext cx="5715000" cy="540792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AD405C-F8E1-4E90-865B-F7883C090CD5}"/>
              </a:ext>
            </a:extLst>
          </p:cNvPr>
          <p:cNvSpPr>
            <a:spLocks xmlns:a="http://schemas.openxmlformats.org/drawingml/2006/main" noGrp="1"/>
          </p:cNvSpPr>
          <p:nvPr/>
        </p:nvSpPr>
        <p:spPr>
          <a:xfrm xmlns:a="http://schemas.openxmlformats.org/drawingml/2006/main">
            <a:off x="6019800" y="6105525"/>
            <a:ext cx="541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725" b="0">
                <a:solidFill>
                  <a:srgbClr val="526779"/>
                </a:solidFill>
                <a:latin typeface="Century Gothic"/>
                <a:ea typeface="Century Gothic"/>
                <a:cs typeface="Century Gothic"/>
              </a:defRPr>
            </a:pPr>
            <a:r>
              <a:rPr sz="1725" b="0">
                <a:solidFill>
                  <a:srgbClr val="526779"/>
                </a:solidFill>
                <a:latin typeface="Century Gothic"/>
                <a:ea typeface="Century Gothic"/>
                <a:cs typeface="Century Gothic"/>
              </a:rPr>
              <a:t>Local Firebase Auth response</a:t>
            </a:r>
          </a:p>
        </p:txBody>
      </p:sp>
    </p:spTree>
    <p:extLst>
      <p:ext uri="{BB962C8B-B14F-4D97-AF65-F5344CB8AC3E}">
        <p14:creationId xmlns:p14="http://schemas.microsoft.com/office/powerpoint/2010/main" val="1801394490"/>
      </p:ext>
    </p:extLst>
  </p:cSld>
</p:sld>
</file>

<file path=ppt/slides/slide6.xml><?xml version="1.0" encoding="utf-8"?>
<p:sld xmlns:p="http://schemas.openxmlformats.org/presentationml/2006/main">
  <p:cSld>
    <p:bg>
      <p:bgPr>
        <a:solidFill xmlns:a="http://schemas.openxmlformats.org/drawingml/2006/main">
          <a:srgbClr val="0B1E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FD335B-1585-45DF-B4F7-9AC739035110}"/>
              </a:ext>
            </a:extLst>
          </p:cNvPr>
          <p:cNvSpPr>
            <a:spLocks xmlns:a="http://schemas.openxmlformats.org/drawingml/2006/main" noGrp="1"/>
          </p:cNvSpPr>
          <p:nvPr/>
        </p:nvSpPr>
        <p:spPr>
          <a:xfrm xmlns:a="http://schemas.openxmlformats.org/drawingml/2006/main">
            <a:off x="723900" y="723900"/>
            <a:ext cx="5905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4050" b="1">
                <a:solidFill>
                  <a:srgbClr val="F5F8FA"/>
                </a:solidFill>
                <a:latin typeface="Century Gothic"/>
                <a:ea typeface="Century Gothic"/>
                <a:cs typeface="Century Gothic"/>
              </a:defRPr>
            </a:pPr>
            <a:r>
              <a:rPr sz="4050" b="1">
                <a:solidFill>
                  <a:srgbClr val="F5F8FA"/>
                </a:solidFill>
                <a:latin typeface="Century Gothic"/>
                <a:ea typeface="Century Gothic"/>
                <a:cs typeface="Century Gothic"/>
              </a:rPr>
              <a:t>Authenticated</a:t>
            </a:r>
          </a:p>
          <a:p xmlns:a="http://schemas.openxmlformats.org/drawingml/2006/main">
            <a:pPr algn="l">
              <a:defRPr sz="4050" b="1">
                <a:solidFill>
                  <a:srgbClr val="F5F8FA"/>
                </a:solidFill>
                <a:latin typeface="Century Gothic"/>
                <a:ea typeface="Century Gothic"/>
                <a:cs typeface="Century Gothic"/>
              </a:defRPr>
            </a:pPr>
            <a:r>
              <a:rPr sz="4050" b="1">
                <a:solidFill>
                  <a:srgbClr val="F5F8FA"/>
                </a:solidFill>
                <a:latin typeface="Century Gothic"/>
                <a:ea typeface="Century Gothic"/>
                <a:cs typeface="Century Gothic"/>
              </a:rPr>
              <a:t>home</a:t>
            </a:r>
          </a:p>
        </p:txBody>
      </p:sp>
      <p:sp>
        <p:nvSpPr>
          <p:cNvPr id="2" name="">
            <a:extLst xmlns:a="http://schemas.openxmlformats.org/drawingml/2006/main">
              <a:ext uri="{FF2B5EF4-FFF2-40B4-BE49-F238E27FC236}">
                <a16:creationId xmlns:a16="http://schemas.microsoft.com/office/drawing/2014/main" id="{B1071869-3821-4B54-9562-E75EA8590D92}"/>
              </a:ext>
            </a:extLst>
          </p:cNvPr>
          <p:cNvSpPr>
            <a:spLocks xmlns:a="http://schemas.openxmlformats.org/drawingml/2006/main" noGrp="1"/>
          </p:cNvSpPr>
          <p:nvPr/>
        </p:nvSpPr>
        <p:spPr>
          <a:xfrm xmlns:a="http://schemas.openxmlformats.org/drawingml/2006/main">
            <a:off x="742950" y="3095625"/>
            <a:ext cx="566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625" b="1">
                <a:solidFill>
                  <a:srgbClr val="90D8C7"/>
                </a:solidFill>
                <a:latin typeface="Century Gothic"/>
                <a:ea typeface="Century Gothic"/>
                <a:cs typeface="Century Gothic"/>
              </a:defRPr>
            </a:pPr>
            <a:r>
              <a:rPr sz="2625" b="1">
                <a:solidFill>
                  <a:srgbClr val="90D8C7"/>
                </a:solidFill>
                <a:latin typeface="Century Gothic"/>
                <a:ea typeface="Century Gothic"/>
                <a:cs typeface="Century Gothic"/>
              </a:rPr>
              <a:t>Valid credentials open Home.</a:t>
            </a:r>
          </a:p>
        </p:txBody>
      </p:sp>
      <p:sp>
        <p:nvSpPr>
          <p:cNvPr id="3" name="">
            <a:extLst xmlns:a="http://schemas.openxmlformats.org/drawingml/2006/main">
              <a:ext uri="{FF2B5EF4-FFF2-40B4-BE49-F238E27FC236}">
                <a16:creationId xmlns:a16="http://schemas.microsoft.com/office/drawing/2014/main" id="{91523B11-9D83-45E3-B523-CF47D779C68D}"/>
              </a:ext>
            </a:extLst>
          </p:cNvPr>
          <p:cNvSpPr>
            <a:spLocks xmlns:a="http://schemas.openxmlformats.org/drawingml/2006/main" noGrp="1"/>
          </p:cNvSpPr>
          <p:nvPr/>
        </p:nvSpPr>
        <p:spPr>
          <a:xfrm xmlns:a="http://schemas.openxmlformats.org/drawingml/2006/main">
            <a:off x="742950" y="4333875"/>
            <a:ext cx="5334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325" b="0">
                <a:solidFill>
                  <a:srgbClr val="F5F8FA"/>
                </a:solidFill>
                <a:latin typeface="Century Gothic"/>
                <a:ea typeface="Century Gothic"/>
                <a:cs typeface="Century Gothic"/>
              </a:defRPr>
            </a:pPr>
            <a:r>
              <a:rPr sz="2325" b="0">
                <a:solidFill>
                  <a:srgbClr val="F5F8FA"/>
                </a:solidFill>
                <a:latin typeface="Century Gothic"/>
                <a:ea typeface="Century Gothic"/>
                <a:cs typeface="Century Gothic"/>
              </a:rPr>
              <a:t>The screen shows</a:t>
            </a:r>
          </a:p>
          <a:p xmlns:a="http://schemas.openxmlformats.org/drawingml/2006/main">
            <a:pPr algn="l">
              <a:defRPr sz="2325" b="0">
                <a:solidFill>
                  <a:srgbClr val="F5F8FA"/>
                </a:solidFill>
                <a:latin typeface="Century Gothic"/>
                <a:ea typeface="Century Gothic"/>
                <a:cs typeface="Century Gothic"/>
              </a:defRPr>
            </a:pPr>
            <a:r>
              <a:rPr sz="2325" b="0">
                <a:solidFill>
                  <a:srgbClr val="F5F8FA"/>
                </a:solidFill>
                <a:latin typeface="Century Gothic"/>
                <a:ea typeface="Century Gothic"/>
                <a:cs typeface="Century Gothic"/>
              </a:rPr>
              <a:t>the signed-in account.</a:t>
            </a:r>
          </a:p>
        </p:txBody>
      </p:sp>
      <p:sp>
        <p:nvSpPr>
          <p:cNvPr id="4" name="">
            <a:extLst xmlns:a="http://schemas.openxmlformats.org/drawingml/2006/main">
              <a:ext uri="{FF2B5EF4-FFF2-40B4-BE49-F238E27FC236}">
                <a16:creationId xmlns:a16="http://schemas.microsoft.com/office/drawing/2014/main" id="{3F4751AF-F05F-4C4E-B935-441A50604D4F}"/>
              </a:ext>
            </a:extLst>
          </p:cNvPr>
          <p:cNvSpPr>
            <a:spLocks xmlns:a="http://schemas.openxmlformats.org/drawingml/2006/main" noGrp="1"/>
          </p:cNvSpPr>
          <p:nvPr/>
        </p:nvSpPr>
        <p:spPr>
          <a:xfrm xmlns:a="http://schemas.openxmlformats.org/drawingml/2006/main">
            <a:off x="742950" y="5924550"/>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800" b="0">
                <a:solidFill>
                  <a:srgbClr val="A9BBB8"/>
                </a:solidFill>
                <a:latin typeface="Century Gothic"/>
                <a:ea typeface="Century Gothic"/>
                <a:cs typeface="Century Gothic"/>
              </a:defRPr>
            </a:pPr>
            <a:r>
              <a:rPr sz="1800" b="0">
                <a:solidFill>
                  <a:srgbClr val="A9BBB8"/>
                </a:solidFill>
                <a:latin typeface="Century Gothic"/>
                <a:ea typeface="Century Gothic"/>
                <a:cs typeface="Century Gothic"/>
              </a:rPr>
              <a:t>Sprint 1 landing screen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8d9589875e844be"/>
          <a:srcRect xmlns:a="http://schemas.openxmlformats.org/drawingml/2006/main" l="0" t="762" r="0" b="762"/>
          <a:stretch xmlns:a="http://schemas.openxmlformats.org/drawingml/2006/main">
            <a:fillRect l="0" t="0" r="0" b="0"/>
          </a:stretch>
        </p:blipFill>
        <p:spPr>
          <a:xfrm xmlns:a="http://schemas.openxmlformats.org/drawingml/2006/main">
            <a:off x="7439025" y="352425"/>
            <a:ext cx="3514725" cy="6153150"/>
          </a:xfrm>
          <a:prstGeom xmlns:a="http://schemas.openxmlformats.org/drawingml/2006/main" prst="rect">
            <a:avLst/>
          </a:prstGeom>
        </p:spPr>
      </p:pic>
    </p:spTree>
    <p:extLst>
      <p:ext uri="{BB962C8B-B14F-4D97-AF65-F5344CB8AC3E}">
        <p14:creationId xmlns:p14="http://schemas.microsoft.com/office/powerpoint/2010/main" val="942410332"/>
      </p:ext>
    </p:extLst>
  </p:cSld>
</p:sld>
</file>

<file path=ppt/slides/slide7.xml><?xml version="1.0" encoding="utf-8"?>
<p:sld xmlns:p="http://schemas.openxmlformats.org/presentationml/2006/main">
  <p:cSld>
    <p:bg>
      <p:bgPr>
        <a:solidFill xmlns:a="http://schemas.openxmlformats.org/drawingml/2006/main">
          <a:srgbClr val="116D6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0F7EAC-9B93-4843-920A-71DAD63DA1AB}"/>
              </a:ext>
            </a:extLst>
          </p:cNvPr>
          <p:cNvSpPr>
            <a:spLocks xmlns:a="http://schemas.openxmlformats.org/drawingml/2006/main" noGrp="1"/>
          </p:cNvSpPr>
          <p:nvPr/>
        </p:nvSpPr>
        <p:spPr>
          <a:xfrm xmlns:a="http://schemas.openxmlformats.org/drawingml/2006/main">
            <a:off x="723900" y="723900"/>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3900" b="1">
                <a:solidFill>
                  <a:srgbClr val="F5F8FA"/>
                </a:solidFill>
                <a:latin typeface="Century Gothic"/>
                <a:ea typeface="Century Gothic"/>
                <a:cs typeface="Century Gothic"/>
              </a:defRPr>
            </a:pPr>
            <a:r>
              <a:rPr sz="3900" b="1">
                <a:solidFill>
                  <a:srgbClr val="F5F8FA"/>
                </a:solidFill>
                <a:latin typeface="Century Gothic"/>
                <a:ea typeface="Century Gothic"/>
                <a:cs typeface="Century Gothic"/>
              </a:rPr>
              <a:t>Session behavior</a:t>
            </a:r>
          </a:p>
        </p:txBody>
      </p:sp>
      <p:sp>
        <p:nvSpPr>
          <p:cNvPr id="2" name="">
            <a:extLst xmlns:a="http://schemas.openxmlformats.org/drawingml/2006/main">
              <a:ext uri="{FF2B5EF4-FFF2-40B4-BE49-F238E27FC236}">
                <a16:creationId xmlns:a16="http://schemas.microsoft.com/office/drawing/2014/main" id="{1DB52F1C-8ADF-4E97-9261-9EF35C52AB3C}"/>
              </a:ext>
            </a:extLst>
          </p:cNvPr>
          <p:cNvSpPr>
            <a:spLocks xmlns:a="http://schemas.openxmlformats.org/drawingml/2006/main" noGrp="1"/>
          </p:cNvSpPr>
          <p:nvPr/>
        </p:nvSpPr>
        <p:spPr>
          <a:xfrm xmlns:a="http://schemas.openxmlformats.org/drawingml/2006/main">
            <a:off x="742950" y="24288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400" b="1">
                <a:solidFill>
                  <a:srgbClr val="90D8C7"/>
                </a:solidFill>
                <a:latin typeface="Century Gothic"/>
                <a:ea typeface="Century Gothic"/>
                <a:cs typeface="Century Gothic"/>
              </a:defRPr>
            </a:pPr>
            <a:r>
              <a:rPr sz="2400" b="1">
                <a:solidFill>
                  <a:srgbClr val="90D8C7"/>
                </a:solidFill>
                <a:latin typeface="Century Gothic"/>
                <a:ea typeface="Century Gothic"/>
                <a:cs typeface="Century Gothic"/>
              </a:rPr>
              <a:t>App restart</a:t>
            </a:r>
          </a:p>
        </p:txBody>
      </p:sp>
      <p:sp>
        <p:nvSpPr>
          <p:cNvPr id="3" name="">
            <a:extLst xmlns:a="http://schemas.openxmlformats.org/drawingml/2006/main">
              <a:ext uri="{FF2B5EF4-FFF2-40B4-BE49-F238E27FC236}">
                <a16:creationId xmlns:a16="http://schemas.microsoft.com/office/drawing/2014/main" id="{72A66207-63AD-4A1F-A8FD-EDD5BF083CBC}"/>
              </a:ext>
            </a:extLst>
          </p:cNvPr>
          <p:cNvSpPr>
            <a:spLocks xmlns:a="http://schemas.openxmlformats.org/drawingml/2006/main" noGrp="1"/>
          </p:cNvSpPr>
          <p:nvPr/>
        </p:nvSpPr>
        <p:spPr>
          <a:xfrm xmlns:a="http://schemas.openxmlformats.org/drawingml/2006/main">
            <a:off x="742950" y="316230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175" b="0">
                <a:solidFill>
                  <a:srgbClr val="F5F8FA"/>
                </a:solidFill>
                <a:latin typeface="Century Gothic"/>
                <a:ea typeface="Century Gothic"/>
                <a:cs typeface="Century Gothic"/>
              </a:defRPr>
            </a:pPr>
            <a:r>
              <a:rPr sz="2175" b="0">
                <a:solidFill>
                  <a:srgbClr val="F5F8FA"/>
                </a:solidFill>
                <a:latin typeface="Century Gothic"/>
                <a:ea typeface="Century Gothic"/>
                <a:cs typeface="Century Gothic"/>
              </a:rPr>
              <a:t>The saved Firebase session</a:t>
            </a:r>
          </a:p>
          <a:p xmlns:a="http://schemas.openxmlformats.org/drawingml/2006/main">
            <a:pPr algn="l">
              <a:defRPr sz="2175" b="0">
                <a:solidFill>
                  <a:srgbClr val="F5F8FA"/>
                </a:solidFill>
                <a:latin typeface="Century Gothic"/>
                <a:ea typeface="Century Gothic"/>
                <a:cs typeface="Century Gothic"/>
              </a:defRPr>
            </a:pPr>
            <a:r>
              <a:rPr sz="2175" b="0">
                <a:solidFill>
                  <a:srgbClr val="F5F8FA"/>
                </a:solidFill>
                <a:latin typeface="Century Gothic"/>
                <a:ea typeface="Century Gothic"/>
                <a:cs typeface="Century Gothic"/>
              </a:rPr>
              <a:t>opens Home again.</a:t>
            </a:r>
          </a:p>
        </p:txBody>
      </p:sp>
      <p:sp>
        <p:nvSpPr>
          <p:cNvPr id="4" name="">
            <a:extLst xmlns:a="http://schemas.openxmlformats.org/drawingml/2006/main">
              <a:ext uri="{FF2B5EF4-FFF2-40B4-BE49-F238E27FC236}">
                <a16:creationId xmlns:a16="http://schemas.microsoft.com/office/drawing/2014/main" id="{99AAA4C5-C46A-47AE-A3A1-53A47A2B318D}"/>
              </a:ext>
            </a:extLst>
          </p:cNvPr>
          <p:cNvSpPr>
            <a:spLocks xmlns:a="http://schemas.openxmlformats.org/drawingml/2006/main" noGrp="1"/>
          </p:cNvSpPr>
          <p:nvPr/>
        </p:nvSpPr>
        <p:spPr>
          <a:xfrm xmlns:a="http://schemas.openxmlformats.org/drawingml/2006/main">
            <a:off x="742950" y="46482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400" b="1">
                <a:solidFill>
                  <a:srgbClr val="90D8C7"/>
                </a:solidFill>
                <a:latin typeface="Century Gothic"/>
                <a:ea typeface="Century Gothic"/>
                <a:cs typeface="Century Gothic"/>
              </a:defRPr>
            </a:pPr>
            <a:r>
              <a:rPr sz="2400" b="1">
                <a:solidFill>
                  <a:srgbClr val="90D8C7"/>
                </a:solidFill>
                <a:latin typeface="Century Gothic"/>
                <a:ea typeface="Century Gothic"/>
                <a:cs typeface="Century Gothic"/>
              </a:rPr>
              <a:t>Sign out</a:t>
            </a:r>
          </a:p>
        </p:txBody>
      </p:sp>
      <p:sp>
        <p:nvSpPr>
          <p:cNvPr id="5" name="">
            <a:extLst xmlns:a="http://schemas.openxmlformats.org/drawingml/2006/main">
              <a:ext uri="{FF2B5EF4-FFF2-40B4-BE49-F238E27FC236}">
                <a16:creationId xmlns:a16="http://schemas.microsoft.com/office/drawing/2014/main" id="{96FFA4FF-5EAF-40B7-8E79-4CCB1BC93131}"/>
              </a:ext>
            </a:extLst>
          </p:cNvPr>
          <p:cNvSpPr>
            <a:spLocks xmlns:a="http://schemas.openxmlformats.org/drawingml/2006/main" noGrp="1"/>
          </p:cNvSpPr>
          <p:nvPr/>
        </p:nvSpPr>
        <p:spPr>
          <a:xfrm xmlns:a="http://schemas.openxmlformats.org/drawingml/2006/main">
            <a:off x="742950" y="5381625"/>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100" b="0">
                <a:solidFill>
                  <a:srgbClr val="F5F8FA"/>
                </a:solidFill>
                <a:latin typeface="Century Gothic"/>
                <a:ea typeface="Century Gothic"/>
                <a:cs typeface="Century Gothic"/>
              </a:defRPr>
            </a:pPr>
            <a:r>
              <a:rPr sz="2100" b="0">
                <a:solidFill>
                  <a:srgbClr val="F5F8FA"/>
                </a:solidFill>
                <a:latin typeface="Century Gothic"/>
                <a:ea typeface="Century Gothic"/>
                <a:cs typeface="Century Gothic"/>
              </a:rPr>
              <a:t>The session clears. Back and restart</a:t>
            </a:r>
          </a:p>
          <a:p xmlns:a="http://schemas.openxmlformats.org/drawingml/2006/main">
            <a:pPr algn="l">
              <a:defRPr sz="2100" b="0">
                <a:solidFill>
                  <a:srgbClr val="F5F8FA"/>
                </a:solidFill>
                <a:latin typeface="Century Gothic"/>
                <a:ea typeface="Century Gothic"/>
                <a:cs typeface="Century Gothic"/>
              </a:defRPr>
            </a:pPr>
            <a:r>
              <a:rPr sz="2100" b="0">
                <a:solidFill>
                  <a:srgbClr val="F5F8FA"/>
                </a:solidFill>
                <a:latin typeface="Century Gothic"/>
                <a:ea typeface="Century Gothic"/>
                <a:cs typeface="Century Gothic"/>
              </a:rPr>
              <a:t>keep the user on Sign in.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08052123f8c4318"/>
          <a:srcRect xmlns:a="http://schemas.openxmlformats.org/drawingml/2006/main" l="0" t="13387" r="0" b="13387"/>
          <a:stretch xmlns:a="http://schemas.openxmlformats.org/drawingml/2006/main">
            <a:fillRect l="0" t="0" r="0" b="0"/>
          </a:stretch>
        </p:blipFill>
        <p:spPr>
          <a:xfrm xmlns:a="http://schemas.openxmlformats.org/drawingml/2006/main">
            <a:off x="7153275" y="619125"/>
            <a:ext cx="4229100" cy="55054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E738CAA-C655-42F3-989B-4DFA745AE01C}"/>
              </a:ext>
            </a:extLst>
          </p:cNvPr>
          <p:cNvSpPr>
            <a:spLocks xmlns:a="http://schemas.openxmlformats.org/drawingml/2006/main" noGrp="1"/>
          </p:cNvSpPr>
          <p:nvPr/>
        </p:nvSpPr>
        <p:spPr>
          <a:xfrm xmlns:a="http://schemas.openxmlformats.org/drawingml/2006/main">
            <a:off x="7153275" y="6200775"/>
            <a:ext cx="422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725" b="0">
                <a:solidFill>
                  <a:srgbClr val="F5F8FA"/>
                </a:solidFill>
                <a:latin typeface="Century Gothic"/>
                <a:ea typeface="Century Gothic"/>
                <a:cs typeface="Century Gothic"/>
              </a:defRPr>
            </a:pPr>
            <a:r>
              <a:rPr sz="1725" b="0">
                <a:solidFill>
                  <a:srgbClr val="F5F8FA"/>
                </a:solidFill>
                <a:latin typeface="Century Gothic"/>
                <a:ea typeface="Century Gothic"/>
                <a:cs typeface="Century Gothic"/>
              </a:rPr>
              <a:t>After sign-out</a:t>
            </a:r>
          </a:p>
        </p:txBody>
      </p:sp>
    </p:spTree>
    <p:extLst>
      <p:ext uri="{BB962C8B-B14F-4D97-AF65-F5344CB8AC3E}">
        <p14:creationId xmlns:p14="http://schemas.microsoft.com/office/powerpoint/2010/main" val="840661698"/>
      </p:ext>
    </p:extLst>
  </p:cSld>
</p:sld>
</file>

<file path=ppt/slides/slide8.xml><?xml version="1.0" encoding="utf-8"?>
<p:sld xmlns:p="http://schemas.openxmlformats.org/presentationml/2006/main">
  <p:cSld>
    <p:bg>
      <p:bgPr>
        <a:solidFill xmlns:a="http://schemas.openxmlformats.org/drawingml/2006/main">
          <a:srgbClr val="0B1E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FAC405-BC03-402C-8A8D-EEB298FBE54A}"/>
              </a:ext>
            </a:extLst>
          </p:cNvPr>
          <p:cNvSpPr>
            <a:spLocks xmlns:a="http://schemas.openxmlformats.org/drawingml/2006/main" noGrp="1"/>
          </p:cNvSpPr>
          <p:nvPr/>
        </p:nvSpPr>
        <p:spPr>
          <a:xfrm xmlns:a="http://schemas.openxmlformats.org/drawingml/2006/main">
            <a:off x="723900" y="571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3900" b="1">
                <a:solidFill>
                  <a:srgbClr val="F5F8FA"/>
                </a:solidFill>
                <a:latin typeface="Century Gothic"/>
                <a:ea typeface="Century Gothic"/>
                <a:cs typeface="Century Gothic"/>
              </a:defRPr>
            </a:pPr>
            <a:r>
              <a:rPr sz="3900" b="1">
                <a:solidFill>
                  <a:srgbClr val="F5F8FA"/>
                </a:solidFill>
                <a:latin typeface="Century Gothic"/>
                <a:ea typeface="Century Gothic"/>
                <a:cs typeface="Century Gothic"/>
              </a:rPr>
              <a:t>Test evidence</a:t>
            </a:r>
          </a:p>
        </p:txBody>
      </p:sp>
      <p:sp>
        <p:nvSpPr>
          <p:cNvPr id="2" name="">
            <a:extLst xmlns:a="http://schemas.openxmlformats.org/drawingml/2006/main">
              <a:ext uri="{FF2B5EF4-FFF2-40B4-BE49-F238E27FC236}">
                <a16:creationId xmlns:a16="http://schemas.microsoft.com/office/drawing/2014/main" id="{FBDDCC76-8E99-4FA6-8F0C-60EEEA111952}"/>
              </a:ext>
            </a:extLst>
          </p:cNvPr>
          <p:cNvSpPr>
            <a:spLocks xmlns:a="http://schemas.openxmlformats.org/drawingml/2006/main" noGrp="1"/>
          </p:cNvSpPr>
          <p:nvPr/>
        </p:nvSpPr>
        <p:spPr>
          <a:xfrm xmlns:a="http://schemas.openxmlformats.org/drawingml/2006/main">
            <a:off x="723900" y="1685925"/>
            <a:ext cx="4048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1550" b="1">
                <a:solidFill>
                  <a:srgbClr val="90D8C7"/>
                </a:solidFill>
                <a:latin typeface="Century Gothic"/>
                <a:ea typeface="Century Gothic"/>
                <a:cs typeface="Century Gothic"/>
              </a:defRPr>
            </a:pPr>
            <a:r>
              <a:rPr sz="11550" b="1">
                <a:solidFill>
                  <a:srgbClr val="90D8C7"/>
                </a:solidFill>
                <a:latin typeface="Century Gothic"/>
                <a:ea typeface="Century Gothic"/>
                <a:cs typeface="Century Gothic"/>
              </a:rPr>
              <a:t>6</a:t>
            </a:r>
          </a:p>
        </p:txBody>
      </p:sp>
      <p:sp>
        <p:nvSpPr>
          <p:cNvPr id="3" name="">
            <a:extLst xmlns:a="http://schemas.openxmlformats.org/drawingml/2006/main">
              <a:ext uri="{FF2B5EF4-FFF2-40B4-BE49-F238E27FC236}">
                <a16:creationId xmlns:a16="http://schemas.microsoft.com/office/drawing/2014/main" id="{3600388F-D60A-4F78-9675-ABFCCF261A67}"/>
              </a:ext>
            </a:extLst>
          </p:cNvPr>
          <p:cNvSpPr>
            <a:spLocks xmlns:a="http://schemas.openxmlformats.org/drawingml/2006/main" noGrp="1"/>
          </p:cNvSpPr>
          <p:nvPr/>
        </p:nvSpPr>
        <p:spPr>
          <a:xfrm xmlns:a="http://schemas.openxmlformats.org/drawingml/2006/main">
            <a:off x="6534150" y="1685925"/>
            <a:ext cx="4048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1550" b="1">
                <a:solidFill>
                  <a:srgbClr val="90D8C7"/>
                </a:solidFill>
                <a:latin typeface="Century Gothic"/>
                <a:ea typeface="Century Gothic"/>
                <a:cs typeface="Century Gothic"/>
              </a:defRPr>
            </a:pPr>
            <a:r>
              <a:rPr sz="11550" b="1">
                <a:solidFill>
                  <a:srgbClr val="90D8C7"/>
                </a:solidFill>
                <a:latin typeface="Century Gothic"/>
                <a:ea typeface="Century Gothic"/>
                <a:cs typeface="Century Gothic"/>
              </a:rPr>
              <a:t>9</a:t>
            </a:r>
          </a:p>
        </p:txBody>
      </p:sp>
      <p:sp>
        <p:nvSpPr>
          <p:cNvPr id="4" name="">
            <a:extLst xmlns:a="http://schemas.openxmlformats.org/drawingml/2006/main">
              <a:ext uri="{FF2B5EF4-FFF2-40B4-BE49-F238E27FC236}">
                <a16:creationId xmlns:a16="http://schemas.microsoft.com/office/drawing/2014/main" id="{2A66D3A9-570F-411F-9568-2919D382B7C8}"/>
              </a:ext>
            </a:extLst>
          </p:cNvPr>
          <p:cNvSpPr>
            <a:spLocks xmlns:a="http://schemas.openxmlformats.org/drawingml/2006/main" noGrp="1"/>
          </p:cNvSpPr>
          <p:nvPr/>
        </p:nvSpPr>
        <p:spPr>
          <a:xfrm xmlns:a="http://schemas.openxmlformats.org/drawingml/2006/main">
            <a:off x="762000" y="3619500"/>
            <a:ext cx="466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400" b="1">
                <a:solidFill>
                  <a:srgbClr val="F5F8FA"/>
                </a:solidFill>
                <a:latin typeface="Century Gothic"/>
                <a:ea typeface="Century Gothic"/>
                <a:cs typeface="Century Gothic"/>
              </a:defRPr>
            </a:pPr>
            <a:r>
              <a:rPr sz="2400" b="1">
                <a:solidFill>
                  <a:srgbClr val="F5F8FA"/>
                </a:solidFill>
                <a:latin typeface="Century Gothic"/>
                <a:ea typeface="Century Gothic"/>
                <a:cs typeface="Century Gothic"/>
              </a:rPr>
              <a:t>Input validation</a:t>
            </a:r>
          </a:p>
          <a:p xmlns:a="http://schemas.openxmlformats.org/drawingml/2006/main">
            <a:pPr algn="l">
              <a:defRPr sz="2400" b="1">
                <a:solidFill>
                  <a:srgbClr val="F5F8FA"/>
                </a:solidFill>
                <a:latin typeface="Century Gothic"/>
                <a:ea typeface="Century Gothic"/>
                <a:cs typeface="Century Gothic"/>
              </a:defRPr>
            </a:pPr>
            <a:r>
              <a:rPr sz="2400" b="1">
                <a:solidFill>
                  <a:srgbClr val="F5F8FA"/>
                </a:solidFill>
                <a:latin typeface="Century Gothic"/>
                <a:ea typeface="Century Gothic"/>
                <a:cs typeface="Century Gothic"/>
              </a:rPr>
              <a:t>tests passed</a:t>
            </a:r>
          </a:p>
        </p:txBody>
      </p:sp>
      <p:sp>
        <p:nvSpPr>
          <p:cNvPr id="5" name="">
            <a:extLst xmlns:a="http://schemas.openxmlformats.org/drawingml/2006/main">
              <a:ext uri="{FF2B5EF4-FFF2-40B4-BE49-F238E27FC236}">
                <a16:creationId xmlns:a16="http://schemas.microsoft.com/office/drawing/2014/main" id="{D7997D95-2E57-4EC9-8775-ECEAF1550497}"/>
              </a:ext>
            </a:extLst>
          </p:cNvPr>
          <p:cNvSpPr>
            <a:spLocks xmlns:a="http://schemas.openxmlformats.org/drawingml/2006/main" noGrp="1"/>
          </p:cNvSpPr>
          <p:nvPr/>
        </p:nvSpPr>
        <p:spPr>
          <a:xfrm xmlns:a="http://schemas.openxmlformats.org/drawingml/2006/main">
            <a:off x="6572250" y="3619500"/>
            <a:ext cx="4667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400" b="1">
                <a:solidFill>
                  <a:srgbClr val="F5F8FA"/>
                </a:solidFill>
                <a:latin typeface="Century Gothic"/>
                <a:ea typeface="Century Gothic"/>
                <a:cs typeface="Century Gothic"/>
              </a:defRPr>
            </a:pPr>
            <a:r>
              <a:rPr sz="2400" b="1">
                <a:solidFill>
                  <a:srgbClr val="F5F8FA"/>
                </a:solidFill>
                <a:latin typeface="Century Gothic"/>
                <a:ea typeface="Century Gothic"/>
                <a:cs typeface="Century Gothic"/>
              </a:rPr>
              <a:t>Android device</a:t>
            </a:r>
          </a:p>
          <a:p xmlns:a="http://schemas.openxmlformats.org/drawingml/2006/main">
            <a:pPr algn="l">
              <a:defRPr sz="2400" b="1">
                <a:solidFill>
                  <a:srgbClr val="F5F8FA"/>
                </a:solidFill>
                <a:latin typeface="Century Gothic"/>
                <a:ea typeface="Century Gothic"/>
                <a:cs typeface="Century Gothic"/>
              </a:defRPr>
            </a:pPr>
            <a:r>
              <a:rPr sz="2400" b="1">
                <a:solidFill>
                  <a:srgbClr val="F5F8FA"/>
                </a:solidFill>
                <a:latin typeface="Century Gothic"/>
                <a:ea typeface="Century Gothic"/>
                <a:cs typeface="Century Gothic"/>
              </a:rPr>
              <a:t>checks passed</a:t>
            </a:r>
          </a:p>
        </p:txBody>
      </p:sp>
      <p:sp>
        <p:nvSpPr>
          <p:cNvPr id="6" name="">
            <a:extLst xmlns:a="http://schemas.openxmlformats.org/drawingml/2006/main">
              <a:ext uri="{FF2B5EF4-FFF2-40B4-BE49-F238E27FC236}">
                <a16:creationId xmlns:a16="http://schemas.microsoft.com/office/drawing/2014/main" id="{EF904E25-0803-4494-9B88-FCF02689ED13}"/>
              </a:ext>
            </a:extLst>
          </p:cNvPr>
          <p:cNvSpPr>
            <a:spLocks xmlns:a="http://schemas.openxmlformats.org/drawingml/2006/main" noGrp="1"/>
          </p:cNvSpPr>
          <p:nvPr/>
        </p:nvSpPr>
        <p:spPr>
          <a:xfrm xmlns:a="http://schemas.openxmlformats.org/drawingml/2006/main">
            <a:off x="762000" y="486727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950" b="0">
                <a:solidFill>
                  <a:srgbClr val="A9BBB8"/>
                </a:solidFill>
                <a:latin typeface="Century Gothic"/>
                <a:ea typeface="Century Gothic"/>
                <a:cs typeface="Century Gothic"/>
              </a:defRPr>
            </a:pPr>
            <a:r>
              <a:rPr sz="1950" b="0">
                <a:solidFill>
                  <a:srgbClr val="A9BBB8"/>
                </a:solidFill>
                <a:latin typeface="Century Gothic"/>
                <a:ea typeface="Century Gothic"/>
                <a:cs typeface="Century Gothic"/>
              </a:rPr>
              <a:t>Validation and exact</a:t>
            </a:r>
          </a:p>
          <a:p xmlns:a="http://schemas.openxmlformats.org/drawingml/2006/main">
            <a:pPr algn="l">
              <a:defRPr sz="1950" b="0">
                <a:solidFill>
                  <a:srgbClr val="A9BBB8"/>
                </a:solidFill>
                <a:latin typeface="Century Gothic"/>
                <a:ea typeface="Century Gothic"/>
                <a:cs typeface="Century Gothic"/>
              </a:defRPr>
            </a:pPr>
            <a:r>
              <a:rPr sz="1950" b="0">
                <a:solidFill>
                  <a:srgbClr val="A9BBB8"/>
                </a:solidFill>
                <a:latin typeface="Century Gothic"/>
                <a:ea typeface="Century Gothic"/>
                <a:cs typeface="Century Gothic"/>
              </a:rPr>
              <a:t>password handling</a:t>
            </a:r>
          </a:p>
        </p:txBody>
      </p:sp>
      <p:sp>
        <p:nvSpPr>
          <p:cNvPr id="7" name="">
            <a:extLst xmlns:a="http://schemas.openxmlformats.org/drawingml/2006/main">
              <a:ext uri="{FF2B5EF4-FFF2-40B4-BE49-F238E27FC236}">
                <a16:creationId xmlns:a16="http://schemas.microsoft.com/office/drawing/2014/main" id="{29AD5AB2-4A13-446F-8074-35B300885572}"/>
              </a:ext>
            </a:extLst>
          </p:cNvPr>
          <p:cNvSpPr>
            <a:spLocks xmlns:a="http://schemas.openxmlformats.org/drawingml/2006/main" noGrp="1"/>
          </p:cNvSpPr>
          <p:nvPr/>
        </p:nvSpPr>
        <p:spPr>
          <a:xfrm xmlns:a="http://schemas.openxmlformats.org/drawingml/2006/main">
            <a:off x="6572250" y="486727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950" b="0">
                <a:solidFill>
                  <a:srgbClr val="A9BBB8"/>
                </a:solidFill>
                <a:latin typeface="Century Gothic"/>
                <a:ea typeface="Century Gothic"/>
                <a:cs typeface="Century Gothic"/>
              </a:defRPr>
            </a:pPr>
            <a:r>
              <a:rPr sz="1950" b="0">
                <a:solidFill>
                  <a:srgbClr val="A9BBB8"/>
                </a:solidFill>
                <a:latin typeface="Century Gothic"/>
                <a:ea typeface="Century Gothic"/>
                <a:cs typeface="Century Gothic"/>
              </a:rPr>
              <a:t>Login outcomes, masking,</a:t>
            </a:r>
          </a:p>
          <a:p xmlns:a="http://schemas.openxmlformats.org/drawingml/2006/main">
            <a:pPr algn="l">
              <a:defRPr sz="1950" b="0">
                <a:solidFill>
                  <a:srgbClr val="A9BBB8"/>
                </a:solidFill>
                <a:latin typeface="Century Gothic"/>
                <a:ea typeface="Century Gothic"/>
                <a:cs typeface="Century Gothic"/>
              </a:defRPr>
            </a:pPr>
            <a:r>
              <a:rPr sz="1950" b="0">
                <a:solidFill>
                  <a:srgbClr val="A9BBB8"/>
                </a:solidFill>
                <a:latin typeface="Century Gothic"/>
                <a:ea typeface="Century Gothic"/>
                <a:cs typeface="Century Gothic"/>
              </a:rPr>
              <a:t>session restore and sign-out</a:t>
            </a:r>
          </a:p>
        </p:txBody>
      </p:sp>
      <p:sp>
        <p:nvSpPr>
          <p:cNvPr id="8" name="">
            <a:extLst xmlns:a="http://schemas.openxmlformats.org/drawingml/2006/main">
              <a:ext uri="{FF2B5EF4-FFF2-40B4-BE49-F238E27FC236}">
                <a16:creationId xmlns:a16="http://schemas.microsoft.com/office/drawing/2014/main" id="{16F53CB2-3DDD-43D6-90E9-E28401B8F32A}"/>
              </a:ext>
            </a:extLst>
          </p:cNvPr>
          <p:cNvSpPr>
            <a:spLocks xmlns:a="http://schemas.openxmlformats.org/drawingml/2006/main" noGrp="1"/>
          </p:cNvSpPr>
          <p:nvPr/>
        </p:nvSpPr>
        <p:spPr>
          <a:xfrm xmlns:a="http://schemas.openxmlformats.org/drawingml/2006/main">
            <a:off x="762000" y="6076950"/>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725" b="0">
                <a:solidFill>
                  <a:srgbClr val="A9BBB8"/>
                </a:solidFill>
                <a:latin typeface="Century Gothic"/>
                <a:ea typeface="Century Gothic"/>
                <a:cs typeface="Century Gothic"/>
              </a:defRPr>
            </a:pPr>
            <a:r>
              <a:rPr sz="1725" b="0">
                <a:solidFill>
                  <a:srgbClr val="A9BBB8"/>
                </a:solidFill>
                <a:latin typeface="Century Gothic"/>
                <a:ea typeface="Century Gothic"/>
                <a:cs typeface="Century Gothic"/>
              </a:rPr>
              <a:t>Android API 28 and local Firebase Auth emulator. Cloud checks remain pending.</a:t>
            </a:r>
          </a:p>
        </p:txBody>
      </p:sp>
    </p:spTree>
    <p:extLst>
      <p:ext uri="{BB962C8B-B14F-4D97-AF65-F5344CB8AC3E}">
        <p14:creationId xmlns:p14="http://schemas.microsoft.com/office/powerpoint/2010/main" val="125417754"/>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0043F8-A2D0-4314-8FC8-9745AF83B03D}"/>
              </a:ext>
            </a:extLst>
          </p:cNvPr>
          <p:cNvSpPr>
            <a:spLocks xmlns:a="http://schemas.openxmlformats.org/drawingml/2006/main" noGrp="1"/>
          </p:cNvSpPr>
          <p:nvPr/>
        </p:nvSpPr>
        <p:spPr>
          <a:xfrm xmlns:a="http://schemas.openxmlformats.org/drawingml/2006/main">
            <a:off x="723900" y="72390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4200" b="1">
                <a:solidFill>
                  <a:srgbClr val="0B1E2B"/>
                </a:solidFill>
                <a:latin typeface="Century Gothic"/>
                <a:ea typeface="Century Gothic"/>
                <a:cs typeface="Century Gothic"/>
              </a:defRPr>
            </a:pPr>
            <a:r>
              <a:rPr sz="4200" b="1">
                <a:solidFill>
                  <a:srgbClr val="0B1E2B"/>
                </a:solidFill>
                <a:latin typeface="Century Gothic"/>
                <a:ea typeface="Century Gothic"/>
                <a:cs typeface="Century Gothic"/>
              </a:rPr>
              <a:t>Registration</a:t>
            </a:r>
          </a:p>
        </p:txBody>
      </p:sp>
      <p:sp>
        <p:nvSpPr>
          <p:cNvPr id="2" name="">
            <a:extLst xmlns:a="http://schemas.openxmlformats.org/drawingml/2006/main">
              <a:ext uri="{FF2B5EF4-FFF2-40B4-BE49-F238E27FC236}">
                <a16:creationId xmlns:a16="http://schemas.microsoft.com/office/drawing/2014/main" id="{921EC0B0-2ECE-4E49-A49C-E875790EA83C}"/>
              </a:ext>
            </a:extLst>
          </p:cNvPr>
          <p:cNvSpPr>
            <a:spLocks xmlns:a="http://schemas.openxmlformats.org/drawingml/2006/main" noGrp="1"/>
          </p:cNvSpPr>
          <p:nvPr/>
        </p:nvSpPr>
        <p:spPr>
          <a:xfrm xmlns:a="http://schemas.openxmlformats.org/drawingml/2006/main">
            <a:off x="742950" y="2190750"/>
            <a:ext cx="5476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400" b="1">
                <a:solidFill>
                  <a:srgbClr val="116D67"/>
                </a:solidFill>
                <a:latin typeface="Century Gothic"/>
                <a:ea typeface="Century Gothic"/>
                <a:cs typeface="Century Gothic"/>
              </a:defRPr>
            </a:pPr>
            <a:r>
              <a:rPr sz="2400" b="1">
                <a:solidFill>
                  <a:srgbClr val="116D67"/>
                </a:solidFill>
                <a:latin typeface="Century Gothic"/>
                <a:ea typeface="Century Gothic"/>
                <a:cs typeface="Century Gothic"/>
              </a:rPr>
              <a:t>Teammate contribution</a:t>
            </a:r>
          </a:p>
        </p:txBody>
      </p:sp>
      <p:sp>
        <p:nvSpPr>
          <p:cNvPr id="3" name="">
            <a:extLst xmlns:a="http://schemas.openxmlformats.org/drawingml/2006/main">
              <a:ext uri="{FF2B5EF4-FFF2-40B4-BE49-F238E27FC236}">
                <a16:creationId xmlns:a16="http://schemas.microsoft.com/office/drawing/2014/main" id="{368DF613-C061-4988-8BE5-0D9B0DA1FA66}"/>
              </a:ext>
            </a:extLst>
          </p:cNvPr>
          <p:cNvSpPr>
            <a:spLocks xmlns:a="http://schemas.openxmlformats.org/drawingml/2006/main" noGrp="1"/>
          </p:cNvSpPr>
          <p:nvPr/>
        </p:nvSpPr>
        <p:spPr>
          <a:xfrm xmlns:a="http://schemas.openxmlformats.org/drawingml/2006/main">
            <a:off x="742950" y="3286125"/>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175" b="0">
                <a:solidFill>
                  <a:srgbClr val="526779"/>
                </a:solidFill>
                <a:latin typeface="Century Gothic"/>
                <a:ea typeface="Century Gothic"/>
                <a:cs typeface="Century Gothic"/>
              </a:defRPr>
            </a:pPr>
            <a:r>
              <a:rPr sz="2175" b="0">
                <a:solidFill>
                  <a:srgbClr val="526779"/>
                </a:solidFill>
                <a:latin typeface="Century Gothic"/>
                <a:ea typeface="Century Gothic"/>
                <a:cs typeface="Century Gothic"/>
              </a:rPr>
              <a:t>Presenter name</a:t>
            </a:r>
          </a:p>
          <a:p xmlns:a="http://schemas.openxmlformats.org/drawingml/2006/main">
            <a:pPr algn="l">
              <a:defRPr sz="2175" b="0">
                <a:solidFill>
                  <a:srgbClr val="526779"/>
                </a:solidFill>
                <a:latin typeface="Century Gothic"/>
                <a:ea typeface="Century Gothic"/>
                <a:cs typeface="Century Gothic"/>
              </a:defRPr>
            </a:pPr>
            <a:r>
              <a:rPr sz="2175" b="0">
                <a:solidFill>
                  <a:srgbClr val="526779"/>
                </a:solidFill>
                <a:latin typeface="Century Gothic"/>
                <a:ea typeface="Century Gothic"/>
                <a:cs typeface="Century Gothic"/>
              </a:rPr>
              <a:t>Account creation result</a:t>
            </a:r>
          </a:p>
          <a:p xmlns:a="http://schemas.openxmlformats.org/drawingml/2006/main">
            <a:pPr algn="l">
              <a:defRPr sz="2175" b="0">
                <a:solidFill>
                  <a:srgbClr val="526779"/>
                </a:solidFill>
                <a:latin typeface="Century Gothic"/>
                <a:ea typeface="Century Gothic"/>
                <a:cs typeface="Century Gothic"/>
              </a:defRPr>
            </a:pPr>
            <a:r>
              <a:rPr sz="2175" b="0">
                <a:solidFill>
                  <a:srgbClr val="526779"/>
                </a:solidFill>
                <a:latin typeface="Century Gothic"/>
                <a:ea typeface="Century Gothic"/>
                <a:cs typeface="Century Gothic"/>
              </a:rPr>
              <a:t>Register-then-login check</a:t>
            </a:r>
          </a:p>
        </p:txBody>
      </p:sp>
      <p:sp>
        <p:nvSpPr>
          <p:cNvPr id="4" name="">
            <a:extLst xmlns:a="http://schemas.openxmlformats.org/drawingml/2006/main">
              <a:ext uri="{FF2B5EF4-FFF2-40B4-BE49-F238E27FC236}">
                <a16:creationId xmlns:a16="http://schemas.microsoft.com/office/drawing/2014/main" id="{D9696B7A-F8D4-4DC7-A101-6FAC7711D51A}"/>
              </a:ext>
            </a:extLst>
          </p:cNvPr>
          <p:cNvSpPr>
            <a:spLocks xmlns:a="http://schemas.openxmlformats.org/drawingml/2006/main" noGrp="1"/>
          </p:cNvSpPr>
          <p:nvPr/>
        </p:nvSpPr>
        <p:spPr>
          <a:xfrm xmlns:a="http://schemas.openxmlformats.org/drawingml/2006/main">
            <a:off x="742950" y="5962650"/>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875" b="0">
                <a:solidFill>
                  <a:srgbClr val="116D67"/>
                </a:solidFill>
                <a:latin typeface="Century Gothic"/>
                <a:ea typeface="Century Gothic"/>
                <a:cs typeface="Century Gothic"/>
              </a:defRPr>
            </a:pPr>
            <a:r>
              <a:rPr sz="1875" b="0">
                <a:solidFill>
                  <a:srgbClr val="116D67"/>
                </a:solidFill>
                <a:latin typeface="Century Gothic"/>
                <a:ea typeface="Century Gothic"/>
                <a:cs typeface="Century Gothic"/>
              </a:rPr>
              <a:t>Pending teammate contribution</a:t>
            </a:r>
          </a:p>
        </p:txBody>
      </p:sp>
      <p:sp>
        <p:nvSpPr>
          <p:cNvPr id="5" name="">
            <a:extLst xmlns:a="http://schemas.openxmlformats.org/drawingml/2006/main">
              <a:ext uri="{FF2B5EF4-FFF2-40B4-BE49-F238E27FC236}">
                <a16:creationId xmlns:a16="http://schemas.microsoft.com/office/drawing/2014/main" id="{5FAAE02C-2447-4A84-BBEC-6C475AA30027}"/>
              </a:ext>
            </a:extLst>
          </p:cNvPr>
          <p:cNvSpPr>
            <a:spLocks xmlns:a="http://schemas.openxmlformats.org/drawingml/2006/main" noGrp="1"/>
          </p:cNvSpPr>
          <p:nvPr/>
        </p:nvSpPr>
        <p:spPr>
          <a:xfrm xmlns:a="http://schemas.openxmlformats.org/drawingml/2006/main">
            <a:off x="7343775" y="2371725"/>
            <a:ext cx="3762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3075" b="0">
                <a:solidFill>
                  <a:srgbClr val="526779"/>
                </a:solidFill>
                <a:latin typeface="Century Gothic"/>
                <a:ea typeface="Century Gothic"/>
                <a:cs typeface="Century Gothic"/>
              </a:defRPr>
            </a:pPr>
            <a:r>
              <a:rPr sz="3075" b="0">
                <a:solidFill>
                  <a:srgbClr val="526779"/>
                </a:solidFill>
                <a:latin typeface="Century Gothic"/>
                <a:ea typeface="Century Gothic"/>
                <a:cs typeface="Century Gothic"/>
              </a:rPr>
              <a:t>Registration</a:t>
            </a:r>
          </a:p>
          <a:p xmlns:a="http://schemas.openxmlformats.org/drawingml/2006/main">
            <a:pPr algn="l">
              <a:defRPr sz="3075" b="0">
                <a:solidFill>
                  <a:srgbClr val="526779"/>
                </a:solidFill>
                <a:latin typeface="Century Gothic"/>
                <a:ea typeface="Century Gothic"/>
                <a:cs typeface="Century Gothic"/>
              </a:defRPr>
            </a:pPr>
            <a:r>
              <a:rPr sz="3075" b="0">
                <a:solidFill>
                  <a:srgbClr val="526779"/>
                </a:solidFill>
                <a:latin typeface="Century Gothic"/>
                <a:ea typeface="Century Gothic"/>
                <a:cs typeface="Century Gothic"/>
              </a:rPr>
              <a:t>screenshot</a:t>
            </a:r>
          </a:p>
        </p:txBody>
      </p:sp>
      <p:sp>
        <p:nvSpPr>
          <p:cNvPr id="6" name="">
            <a:extLst xmlns:a="http://schemas.openxmlformats.org/drawingml/2006/main">
              <a:ext uri="{FF2B5EF4-FFF2-40B4-BE49-F238E27FC236}">
                <a16:creationId xmlns:a16="http://schemas.microsoft.com/office/drawing/2014/main" id="{881E2F16-B484-40A9-AD7B-20EDCE43C40C}"/>
              </a:ext>
            </a:extLst>
          </p:cNvPr>
          <p:cNvSpPr>
            <a:spLocks xmlns:a="http://schemas.openxmlformats.org/drawingml/2006/main" noGrp="1"/>
          </p:cNvSpPr>
          <p:nvPr/>
        </p:nvSpPr>
        <p:spPr>
          <a:xfrm xmlns:a="http://schemas.openxmlformats.org/drawingml/2006/main">
            <a:off x="7343775" y="4505325"/>
            <a:ext cx="3762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1950" b="0">
                <a:solidFill>
                  <a:srgbClr val="526779"/>
                </a:solidFill>
                <a:latin typeface="Century Gothic"/>
                <a:ea typeface="Century Gothic"/>
                <a:cs typeface="Century Gothic"/>
              </a:defRPr>
            </a:pPr>
            <a:r>
              <a:rPr sz="1950" b="0">
                <a:solidFill>
                  <a:srgbClr val="526779"/>
                </a:solidFill>
                <a:latin typeface="Century Gothic"/>
                <a:ea typeface="Century Gothic"/>
                <a:cs typeface="Century Gothic"/>
              </a:rPr>
              <a:t>Space for the working feature</a:t>
            </a:r>
          </a:p>
        </p:txBody>
      </p:sp>
    </p:spTree>
    <p:extLst>
      <p:ext uri="{BB962C8B-B14F-4D97-AF65-F5344CB8AC3E}">
        <p14:creationId xmlns:p14="http://schemas.microsoft.com/office/powerpoint/2010/main" val="1329207540"/>
      </p:ext>
    </p:extLst>
  </p:cSld>
</p:sld>
</file>

<file path=ppt/slides/slide10.xml><?xml version="1.0" encoding="utf-8"?>
<p:sld xmlns:p="http://schemas.openxmlformats.org/presentationml/2006/main">
  <p:cSld>
    <p:bg>
      <p:bgPr>
        <a:solidFill xmlns:a="http://schemas.openxmlformats.org/drawingml/2006/main">
          <a:srgbClr val="0B1E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E91DCE-2E54-41EE-8AE3-5D68263DCA1B}"/>
              </a:ext>
            </a:extLst>
          </p:cNvPr>
          <p:cNvSpPr>
            <a:spLocks xmlns:a="http://schemas.openxmlformats.org/drawingml/2006/main" noGrp="1"/>
          </p:cNvSpPr>
          <p:nvPr/>
        </p:nvSpPr>
        <p:spPr>
          <a:xfrm xmlns:a="http://schemas.openxmlformats.org/drawingml/2006/main">
            <a:off x="7239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3900" b="1">
                <a:solidFill>
                  <a:srgbClr val="F5F8FA"/>
                </a:solidFill>
                <a:latin typeface="Century Gothic"/>
                <a:ea typeface="Century Gothic"/>
                <a:cs typeface="Century Gothic"/>
              </a:defRPr>
            </a:pPr>
            <a:r>
              <a:rPr sz="3900" b="1">
                <a:solidFill>
                  <a:srgbClr val="F5F8FA"/>
                </a:solidFill>
                <a:latin typeface="Century Gothic"/>
                <a:ea typeface="Century Gothic"/>
                <a:cs typeface="Century Gothic"/>
              </a:rPr>
              <a:t>Next Sprint 1 checks</a:t>
            </a:r>
          </a:p>
        </p:txBody>
      </p:sp>
      <p:sp>
        <p:nvSpPr>
          <p:cNvPr id="2" name="">
            <a:extLst xmlns:a="http://schemas.openxmlformats.org/drawingml/2006/main">
              <a:ext uri="{FF2B5EF4-FFF2-40B4-BE49-F238E27FC236}">
                <a16:creationId xmlns:a16="http://schemas.microsoft.com/office/drawing/2014/main" id="{23CD23A6-0AB6-41F4-AB70-A9188FDC574C}"/>
              </a:ext>
            </a:extLst>
          </p:cNvPr>
          <p:cNvSpPr>
            <a:spLocks xmlns:a="http://schemas.openxmlformats.org/drawingml/2006/main" noGrp="1"/>
          </p:cNvSpPr>
          <p:nvPr/>
        </p:nvSpPr>
        <p:spPr>
          <a:xfrm xmlns:a="http://schemas.openxmlformats.org/drawingml/2006/main">
            <a:off x="742950" y="20574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3075" b="1">
                <a:solidFill>
                  <a:srgbClr val="90D8C7"/>
                </a:solidFill>
                <a:latin typeface="Century Gothic"/>
                <a:ea typeface="Century Gothic"/>
                <a:cs typeface="Century Gothic"/>
              </a:defRPr>
            </a:pPr>
            <a:r>
              <a:rPr sz="3075" b="1">
                <a:solidFill>
                  <a:srgbClr val="90D8C7"/>
                </a:solidFill>
                <a:latin typeface="Century Gothic"/>
                <a:ea typeface="Century Gothic"/>
                <a:cs typeface="Century Gothic"/>
              </a:rPr>
              <a:t>Login is ready for the local demo.</a:t>
            </a:r>
          </a:p>
        </p:txBody>
      </p:sp>
      <p:sp>
        <p:nvSpPr>
          <p:cNvPr id="3" name="">
            <a:extLst xmlns:a="http://schemas.openxmlformats.org/drawingml/2006/main">
              <a:ext uri="{FF2B5EF4-FFF2-40B4-BE49-F238E27FC236}">
                <a16:creationId xmlns:a16="http://schemas.microsoft.com/office/drawing/2014/main" id="{E14D20F9-42AB-4345-9EB2-822BE7CD8738}"/>
              </a:ext>
            </a:extLst>
          </p:cNvPr>
          <p:cNvSpPr>
            <a:spLocks xmlns:a="http://schemas.openxmlformats.org/drawingml/2006/main" noGrp="1"/>
          </p:cNvSpPr>
          <p:nvPr/>
        </p:nvSpPr>
        <p:spPr>
          <a:xfrm xmlns:a="http://schemas.openxmlformats.org/drawingml/2006/main">
            <a:off x="762000" y="35147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550" b="1">
                <a:solidFill>
                  <a:srgbClr val="90D8C7"/>
                </a:solidFill>
                <a:latin typeface="Century Gothic"/>
                <a:ea typeface="Century Gothic"/>
                <a:cs typeface="Century Gothic"/>
              </a:defRPr>
            </a:pPr>
            <a:r>
              <a:rPr sz="2550" b="1">
                <a:solidFill>
                  <a:srgbClr val="90D8C7"/>
                </a:solidFill>
                <a:latin typeface="Century Gothic"/>
                <a:ea typeface="Century Gothic"/>
                <a:cs typeface="Century Gothic"/>
              </a:rPr>
              <a:t>01</a:t>
            </a:r>
          </a:p>
        </p:txBody>
      </p:sp>
      <p:sp>
        <p:nvSpPr>
          <p:cNvPr id="4" name="">
            <a:extLst xmlns:a="http://schemas.openxmlformats.org/drawingml/2006/main">
              <a:ext uri="{FF2B5EF4-FFF2-40B4-BE49-F238E27FC236}">
                <a16:creationId xmlns:a16="http://schemas.microsoft.com/office/drawing/2014/main" id="{63101B82-4486-49B3-A156-EA12711A9078}"/>
              </a:ext>
            </a:extLst>
          </p:cNvPr>
          <p:cNvSpPr>
            <a:spLocks xmlns:a="http://schemas.openxmlformats.org/drawingml/2006/main" noGrp="1"/>
          </p:cNvSpPr>
          <p:nvPr/>
        </p:nvSpPr>
        <p:spPr>
          <a:xfrm xmlns:a="http://schemas.openxmlformats.org/drawingml/2006/main">
            <a:off x="1771650" y="3486150"/>
            <a:ext cx="933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175" b="0">
                <a:solidFill>
                  <a:srgbClr val="F5F8FA"/>
                </a:solidFill>
                <a:latin typeface="Century Gothic"/>
                <a:ea typeface="Century Gothic"/>
                <a:cs typeface="Century Gothic"/>
              </a:defRPr>
            </a:pPr>
            <a:r>
              <a:rPr sz="2175" b="0">
                <a:solidFill>
                  <a:srgbClr val="F5F8FA"/>
                </a:solidFill>
                <a:latin typeface="Century Gothic"/>
                <a:ea typeface="Century Gothic"/>
                <a:cs typeface="Century Gothic"/>
              </a:rPr>
              <a:t>Team Firebase project and cloud verification</a:t>
            </a:r>
          </a:p>
        </p:txBody>
      </p:sp>
      <p:sp>
        <p:nvSpPr>
          <p:cNvPr id="5" name="">
            <a:extLst xmlns:a="http://schemas.openxmlformats.org/drawingml/2006/main">
              <a:ext uri="{FF2B5EF4-FFF2-40B4-BE49-F238E27FC236}">
                <a16:creationId xmlns:a16="http://schemas.microsoft.com/office/drawing/2014/main" id="{1A5DA97C-3007-4361-9F4E-72B207A9E674}"/>
              </a:ext>
            </a:extLst>
          </p:cNvPr>
          <p:cNvSpPr>
            <a:spLocks xmlns:a="http://schemas.openxmlformats.org/drawingml/2006/main" noGrp="1"/>
          </p:cNvSpPr>
          <p:nvPr/>
        </p:nvSpPr>
        <p:spPr>
          <a:xfrm xmlns:a="http://schemas.openxmlformats.org/drawingml/2006/main">
            <a:off x="762000" y="45434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550" b="1">
                <a:solidFill>
                  <a:srgbClr val="90D8C7"/>
                </a:solidFill>
                <a:latin typeface="Century Gothic"/>
                <a:ea typeface="Century Gothic"/>
                <a:cs typeface="Century Gothic"/>
              </a:defRPr>
            </a:pPr>
            <a:r>
              <a:rPr sz="2550" b="1">
                <a:solidFill>
                  <a:srgbClr val="90D8C7"/>
                </a:solidFill>
                <a:latin typeface="Century Gothic"/>
                <a:ea typeface="Century Gothic"/>
                <a:cs typeface="Century Gothic"/>
              </a:rPr>
              <a:t>02</a:t>
            </a:r>
          </a:p>
        </p:txBody>
      </p:sp>
      <p:sp>
        <p:nvSpPr>
          <p:cNvPr id="6" name="">
            <a:extLst xmlns:a="http://schemas.openxmlformats.org/drawingml/2006/main">
              <a:ext uri="{FF2B5EF4-FFF2-40B4-BE49-F238E27FC236}">
                <a16:creationId xmlns:a16="http://schemas.microsoft.com/office/drawing/2014/main" id="{35B828F5-2A5A-4A27-99C0-65478FEC0C33}"/>
              </a:ext>
            </a:extLst>
          </p:cNvPr>
          <p:cNvSpPr>
            <a:spLocks xmlns:a="http://schemas.openxmlformats.org/drawingml/2006/main" noGrp="1"/>
          </p:cNvSpPr>
          <p:nvPr/>
        </p:nvSpPr>
        <p:spPr>
          <a:xfrm xmlns:a="http://schemas.openxmlformats.org/drawingml/2006/main">
            <a:off x="1771650" y="4514850"/>
            <a:ext cx="933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175" b="0">
                <a:solidFill>
                  <a:srgbClr val="F5F8FA"/>
                </a:solidFill>
                <a:latin typeface="Century Gothic"/>
                <a:ea typeface="Century Gothic"/>
                <a:cs typeface="Century Gothic"/>
              </a:defRPr>
            </a:pPr>
            <a:r>
              <a:rPr sz="2175" b="0">
                <a:solidFill>
                  <a:srgbClr val="F5F8FA"/>
                </a:solidFill>
                <a:latin typeface="Century Gothic"/>
                <a:ea typeface="Century Gothic"/>
                <a:cs typeface="Century Gothic"/>
              </a:rPr>
              <a:t>Registration and a new-account login check</a:t>
            </a:r>
          </a:p>
        </p:txBody>
      </p:sp>
      <p:sp>
        <p:nvSpPr>
          <p:cNvPr id="7" name="">
            <a:extLst xmlns:a="http://schemas.openxmlformats.org/drawingml/2006/main">
              <a:ext uri="{FF2B5EF4-FFF2-40B4-BE49-F238E27FC236}">
                <a16:creationId xmlns:a16="http://schemas.microsoft.com/office/drawing/2014/main" id="{45BA9E1C-924E-428B-B8CC-541FB3B0934E}"/>
              </a:ext>
            </a:extLst>
          </p:cNvPr>
          <p:cNvSpPr>
            <a:spLocks xmlns:a="http://schemas.openxmlformats.org/drawingml/2006/main" noGrp="1"/>
          </p:cNvSpPr>
          <p:nvPr/>
        </p:nvSpPr>
        <p:spPr>
          <a:xfrm xmlns:a="http://schemas.openxmlformats.org/drawingml/2006/main">
            <a:off x="762000" y="55721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550" b="1">
                <a:solidFill>
                  <a:srgbClr val="90D8C7"/>
                </a:solidFill>
                <a:latin typeface="Century Gothic"/>
                <a:ea typeface="Century Gothic"/>
                <a:cs typeface="Century Gothic"/>
              </a:defRPr>
            </a:pPr>
            <a:r>
              <a:rPr sz="2550" b="1">
                <a:solidFill>
                  <a:srgbClr val="90D8C7"/>
                </a:solidFill>
                <a:latin typeface="Century Gothic"/>
                <a:ea typeface="Century Gothic"/>
                <a:cs typeface="Century Gothic"/>
              </a:rPr>
              <a:t>03</a:t>
            </a:r>
          </a:p>
        </p:txBody>
      </p:sp>
      <p:sp>
        <p:nvSpPr>
          <p:cNvPr id="8" name="">
            <a:extLst xmlns:a="http://schemas.openxmlformats.org/drawingml/2006/main">
              <a:ext uri="{FF2B5EF4-FFF2-40B4-BE49-F238E27FC236}">
                <a16:creationId xmlns:a16="http://schemas.microsoft.com/office/drawing/2014/main" id="{F445853F-EB0E-4012-B29C-C9AE42D00306}"/>
              </a:ext>
            </a:extLst>
          </p:cNvPr>
          <p:cNvSpPr>
            <a:spLocks xmlns:a="http://schemas.openxmlformats.org/drawingml/2006/main" noGrp="1"/>
          </p:cNvSpPr>
          <p:nvPr/>
        </p:nvSpPr>
        <p:spPr>
          <a:xfrm xmlns:a="http://schemas.openxmlformats.org/drawingml/2006/main">
            <a:off x="1771650" y="5543550"/>
            <a:ext cx="933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l">
              <a:defRPr sz="2175" b="0">
                <a:solidFill>
                  <a:srgbClr val="F5F8FA"/>
                </a:solidFill>
                <a:latin typeface="Century Gothic"/>
                <a:ea typeface="Century Gothic"/>
                <a:cs typeface="Century Gothic"/>
              </a:defRPr>
            </a:pPr>
            <a:r>
              <a:rPr sz="2175" b="0">
                <a:solidFill>
                  <a:srgbClr val="F5F8FA"/>
                </a:solidFill>
                <a:latin typeface="Century Gothic"/>
                <a:ea typeface="Century Gothic"/>
                <a:cs typeface="Century Gothic"/>
              </a:rPr>
              <a:t>Provider failures and request lifecycle</a:t>
            </a:r>
          </a:p>
        </p:txBody>
      </p:sp>
    </p:spTree>
    <p:extLst>
      <p:ext uri="{BB962C8B-B14F-4D97-AF65-F5344CB8AC3E}">
        <p14:creationId xmlns:p14="http://schemas.microsoft.com/office/powerpoint/2010/main" val="7076077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2026-10-03T20:05:56.9120000Z</dcterms:created>
  <dcterms:modified xsi:type="dcterms:W3CDTF">2026-10-03T20:05:56.9120000Z</dcterms:modified>
</coreProperties>
</file>